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80" r:id="rId7"/>
    <p:sldId id="281" r:id="rId8"/>
    <p:sldId id="282" r:id="rId9"/>
    <p:sldId id="283" r:id="rId10"/>
    <p:sldId id="261" r:id="rId11"/>
    <p:sldId id="262" r:id="rId12"/>
    <p:sldId id="263" r:id="rId13"/>
    <p:sldId id="264" r:id="rId14"/>
    <p:sldId id="265" r:id="rId15"/>
    <p:sldId id="266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5077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yourself, the project title, sponsor name, and 8-week duration. Set the context that this is an HR analytics initiative.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2A3580">
              <a:alpha val="60000"/>
            </a:srgbClr>
          </a:solidFill>
          <a:ln w="12700">
            <a:solidFill>
              <a:srgbClr val="2A35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-548640"/>
            <a:ext cx="2011680" cy="2011680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ADCFC"/>
                </a:solidFill>
              </a:rPr>
              <a:t>HR ANALYTICS INTERNSHIP PROJECT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Predictor &amp;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Profile Analysis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48640" y="3429000"/>
            <a:ext cx="109728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611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framework to identify, measure, and predict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high-performing HR Manager potential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9920" y="4553373"/>
            <a:ext cx="906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/ Project Lead:  </a:t>
            </a: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Vivek Kumar Kohli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Sponsor:  </a:t>
            </a: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Bharat Bhushan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Mentor:  </a:t>
            </a: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Anisha Sharma |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Duration:  </a:t>
            </a: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3 – July 31,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 Are Solving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 exists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4440" y="146304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23957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Standard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Profile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31089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defined benchmark for what 'excellent' looks like in key roles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128016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069080" y="146304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6908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≠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37560" y="23957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Inconsistent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Ratings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337560" y="31089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vary across managers and departments with no structured basis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128016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903720" y="146304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✗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72200" y="23957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 Talent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172200" y="31089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data-backed tool to proactively identify at-risk or high-potential employees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4617720"/>
            <a:ext cx="8412480" cy="347472"/>
          </a:xfrm>
          <a:prstGeom prst="roundRect">
            <a:avLst>
              <a:gd name="adj" fmla="val 15789"/>
            </a:avLst>
          </a:prstGeom>
          <a:solidFill>
            <a:srgbClr val="E0F4F7"/>
          </a:solidFill>
          <a:ln w="12700">
            <a:solidFill>
              <a:srgbClr val="E0F4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28090"/>
                </a:solidFill>
              </a:rPr>
              <a:t>Objective: Move from intuition-based talent decisions → data-driven performance prediction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Clear Project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be built and delivered by July 31, 2026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8412480" cy="1078992"/>
          </a:xfrm>
          <a:prstGeom prst="roundRect">
            <a:avLst>
              <a:gd name="adj" fmla="val 847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17320"/>
            <a:ext cx="777240" cy="7772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3716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Success Profile Framework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17320" y="16916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competencies, behaviors, skills, and traits that predict success in identified key roles — based on literature review, stakeholder interviews, and analysis of existing performance data.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8412480" cy="1078992"/>
          </a:xfrm>
          <a:prstGeom prst="roundRect">
            <a:avLst>
              <a:gd name="adj" fmla="val 847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651760"/>
            <a:ext cx="777240" cy="7772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651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26060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 a Performance Predictor Model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417320" y="292608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simple, explainable (rule-based or statistical) model using available  data to predict performance outcomes. Explainability and  usability are the priority — not machine learning complexity.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749040"/>
            <a:ext cx="8412480" cy="1078992"/>
          </a:xfrm>
          <a:prstGeom prst="roundRect">
            <a:avLst>
              <a:gd name="adj" fmla="val 847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886200"/>
            <a:ext cx="777240" cy="7772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886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38404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Usable HR Dashboard / Report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417320" y="416052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the findings into a visual, stakeholder-friendly dashboard or report that HR leadership can use for hiring, appraisal, and development decisions — with full documentation for continuity.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Approach &amp; Methodology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10-step end-to-end process from identification to application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1508760" cy="960120"/>
          </a:xfrm>
          <a:prstGeom prst="roundRect">
            <a:avLst>
              <a:gd name="adj" fmla="val 9524"/>
            </a:avLst>
          </a:prstGeom>
          <a:solidFill>
            <a:srgbClr val="028090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27101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490472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/ Avg /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Performers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0" y="1714500"/>
            <a:ext cx="164592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93392" y="1234440"/>
            <a:ext cx="1508760" cy="960120"/>
          </a:xfrm>
          <a:prstGeom prst="roundRect">
            <a:avLst>
              <a:gd name="adj" fmla="val 9524"/>
            </a:avLst>
          </a:prstGeom>
          <a:solidFill>
            <a:srgbClr val="028090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93392" y="127101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039112" y="1490472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Survey-1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502152" y="1714500"/>
            <a:ext cx="164592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66744" y="1234440"/>
            <a:ext cx="1508760" cy="960120"/>
          </a:xfrm>
          <a:prstGeom prst="roundRect">
            <a:avLst>
              <a:gd name="adj" fmla="val 9524"/>
            </a:avLst>
          </a:prstGeom>
          <a:solidFill>
            <a:srgbClr val="2A3580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66744" y="127101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712464" y="1490472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175504" y="1714500"/>
            <a:ext cx="164592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40096" y="1234440"/>
            <a:ext cx="1508760" cy="960120"/>
          </a:xfrm>
          <a:prstGeom prst="roundRect">
            <a:avLst>
              <a:gd name="adj" fmla="val 9524"/>
            </a:avLst>
          </a:prstGeom>
          <a:solidFill>
            <a:srgbClr val="2A3580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0096" y="127101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385816" y="1490472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Lominger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48856" y="1714500"/>
            <a:ext cx="164592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13448" y="1234440"/>
            <a:ext cx="1508760" cy="960120"/>
          </a:xfrm>
          <a:prstGeom prst="roundRect">
            <a:avLst>
              <a:gd name="adj" fmla="val 9524"/>
            </a:avLst>
          </a:prstGeom>
          <a:solidFill>
            <a:srgbClr val="2A3580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13448" y="127101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</a:rPr>
              <a:t>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059168" y="1490472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&amp; Survey-2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2834640"/>
            <a:ext cx="1508760" cy="960120"/>
          </a:xfrm>
          <a:prstGeom prst="roundRect">
            <a:avLst>
              <a:gd name="adj" fmla="val 9524"/>
            </a:avLst>
          </a:prstGeom>
          <a:solidFill>
            <a:srgbClr val="2A3580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87121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</a:rPr>
              <a:t>6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20040" y="309067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to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&amp; Survey 2 Result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828800" y="3314700"/>
            <a:ext cx="164592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93392" y="2834640"/>
            <a:ext cx="1508760" cy="960120"/>
          </a:xfrm>
          <a:prstGeom prst="roundRect">
            <a:avLst>
              <a:gd name="adj" fmla="val 9524"/>
            </a:avLst>
          </a:prstGeom>
          <a:solidFill>
            <a:srgbClr val="2A3580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93392" y="287121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</a:rPr>
              <a:t>7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2039112" y="3090672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Using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Data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(Correlation)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502152" y="3314700"/>
            <a:ext cx="164592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66744" y="2834640"/>
            <a:ext cx="1508760" cy="960120"/>
          </a:xfrm>
          <a:prstGeom prst="roundRect">
            <a:avLst>
              <a:gd name="adj" fmla="val 9524"/>
            </a:avLst>
          </a:prstGeom>
          <a:solidFill>
            <a:srgbClr val="1A4A6A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66744" y="287121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</a:rPr>
              <a:t>8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3712464" y="3090672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Success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175504" y="3314700"/>
            <a:ext cx="164592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40096" y="2834640"/>
            <a:ext cx="1508760" cy="960120"/>
          </a:xfrm>
          <a:prstGeom prst="roundRect">
            <a:avLst>
              <a:gd name="adj" fmla="val 9524"/>
            </a:avLst>
          </a:prstGeom>
          <a:solidFill>
            <a:srgbClr val="1A4A6A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40096" y="287121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</a:rPr>
              <a:t>9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5385816" y="3090672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848856" y="3314700"/>
            <a:ext cx="164592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13448" y="2834640"/>
            <a:ext cx="1508760" cy="960120"/>
          </a:xfrm>
          <a:prstGeom prst="roundRect">
            <a:avLst>
              <a:gd name="adj" fmla="val 9524"/>
            </a:avLst>
          </a:prstGeom>
          <a:solidFill>
            <a:srgbClr val="1A4A6A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13448" y="287121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</a:rPr>
              <a:t>10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7059168" y="3090672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to New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&amp;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Hiring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20040" y="4617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</a:rPr>
              <a:t>Phase 1: Identify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0040" y="4892040"/>
            <a:ext cx="201168" cy="12801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26080" y="4617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</a:rPr>
              <a:t>Phase 2: Design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926080" y="4892040"/>
            <a:ext cx="201168" cy="128016"/>
          </a:xfrm>
          <a:prstGeom prst="rect">
            <a:avLst/>
          </a:prstGeom>
          <a:solidFill>
            <a:srgbClr val="2A3580"/>
          </a:solidFill>
          <a:ln w="12700">
            <a:solidFill>
              <a:srgbClr val="2A358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60720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</a:rPr>
              <a:t>Phase 3: Validate &amp; Apply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760720" y="4892040"/>
            <a:ext cx="201168" cy="128016"/>
          </a:xfrm>
          <a:prstGeom prst="rect">
            <a:avLst/>
          </a:prstGeom>
          <a:solidFill>
            <a:srgbClr val="1A4A6A"/>
          </a:solidFill>
          <a:ln w="12700">
            <a:solidFill>
              <a:srgbClr val="1A4A6A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Frameworks Powering This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globally recognized frameworks integrated into one model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697480" cy="3611880"/>
          </a:xfrm>
          <a:prstGeom prst="roundRect">
            <a:avLst>
              <a:gd name="adj" fmla="val 406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34440"/>
            <a:ext cx="2697480" cy="868680"/>
          </a:xfrm>
          <a:prstGeom prst="roundRect">
            <a:avLst>
              <a:gd name="adj" fmla="val 1263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737360"/>
            <a:ext cx="269748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9844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AACCEE"/>
                </a:solidFill>
              </a:rPr>
              <a:t>ICEBERG FRAMEWORK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Spencer &amp; Spencer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Competency Model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212848"/>
            <a:ext cx="2423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underlying drivers of performance — both visible (knowledge, skills) and hidden (traits, motives, self-concept). Helps us understand WHY top performers succeed.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697480" cy="3611880"/>
          </a:xfrm>
          <a:prstGeom prst="roundRect">
            <a:avLst>
              <a:gd name="adj" fmla="val 406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234440"/>
            <a:ext cx="2697480" cy="868680"/>
          </a:xfrm>
          <a:prstGeom prst="roundRect">
            <a:avLst>
              <a:gd name="adj" fmla="val 1263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737360"/>
            <a:ext cx="269748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29844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AACCEE"/>
                </a:solidFill>
              </a:rPr>
              <a:t>67 COMPETENCIES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91840" y="15087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Lominger Leadership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2212848"/>
            <a:ext cx="2423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broad leadership requirements into specific, measurable competency language. Maps interview themes into standardized categories like Influencing Others, Conflict Management, Strategic Thinking.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1234440"/>
            <a:ext cx="2697480" cy="3611880"/>
          </a:xfrm>
          <a:prstGeom prst="roundRect">
            <a:avLst>
              <a:gd name="adj" fmla="val 406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234440"/>
            <a:ext cx="2697480" cy="868680"/>
          </a:xfrm>
          <a:prstGeom prst="roundRect">
            <a:avLst>
              <a:gd name="adj" fmla="val 12632"/>
            </a:avLst>
          </a:prstGeom>
          <a:solidFill>
            <a:srgbClr val="1A4A6A"/>
          </a:solidFill>
          <a:ln w="12700">
            <a:solidFill>
              <a:srgbClr val="1A4A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737360"/>
            <a:ext cx="2697480" cy="365760"/>
          </a:xfrm>
          <a:prstGeom prst="rect">
            <a:avLst/>
          </a:prstGeom>
          <a:solidFill>
            <a:srgbClr val="1A4A6A"/>
          </a:solidFill>
          <a:ln w="12700">
            <a:solidFill>
              <a:srgbClr val="1A4A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29844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AACCEE"/>
                </a:solidFill>
              </a:rPr>
              <a:t>BEHAVIORAL INDICATORS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172200" y="15087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SHL OPQ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2212848"/>
            <a:ext cx="2423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observable behavioral anchors for each competency. Tells us HOW to measure: e.g. Influence = Persuades others + Builds networks + Gains commitment.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4663440"/>
            <a:ext cx="8503920" cy="320040"/>
          </a:xfrm>
          <a:prstGeom prst="roundRect">
            <a:avLst>
              <a:gd name="adj" fmla="val 20000"/>
            </a:avLst>
          </a:prstGeom>
          <a:solidFill>
            <a:srgbClr val="E0F4F7"/>
          </a:solidFill>
          <a:ln w="12700">
            <a:solidFill>
              <a:srgbClr val="E0F4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</a:rPr>
              <a:t>Combined → Build measurable competency profile → Assign weights → Score candidates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</a:rPr>
              <a:t>Spencer &amp; Spencer Iceberg Model — Deep Dive</a:t>
            </a:r>
          </a:p>
        </p:txBody>
      </p:sp>
      <p:sp>
        <p:nvSpPr>
          <p:cNvPr id="3" name="Sub"/>
          <p:cNvSpPr/>
          <p:nvPr/>
        </p:nvSpPr>
        <p:spPr>
          <a:xfrm>
            <a:off x="457200" y="795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</a:rPr>
              <a:t>Why do some employees consistently outperform? Performance is driven by competencies — not just experience or qualifications</a:t>
            </a:r>
          </a:p>
        </p:txBody>
      </p:sp>
      <p:sp>
        <p:nvSpPr>
          <p:cNvPr id="4" name="VisibleBg"/>
          <p:cNvSpPr/>
          <p:nvPr/>
        </p:nvSpPr>
        <p:spPr>
          <a:xfrm>
            <a:off x="457200" y="1219200"/>
            <a:ext cx="3886200" cy="3581400"/>
          </a:xfrm>
          <a:prstGeom prst="roundRect">
            <a:avLst>
              <a:gd name="adj" fmla="val 10000"/>
            </a:avLst>
          </a:prstGeom>
          <a:solidFill>
            <a:srgbClr val="E8F4FD"/>
          </a:solidFill>
          <a:ln w="19050">
            <a:solidFill>
              <a:srgbClr val="028090"/>
            </a:solidFill>
          </a:ln>
        </p:spPr>
      </p:sp>
      <p:sp>
        <p:nvSpPr>
          <p:cNvPr id="5" name="VisLbl"/>
          <p:cNvSpPr/>
          <p:nvPr/>
        </p:nvSpPr>
        <p:spPr>
          <a:xfrm>
            <a:off x="548640" y="1280160"/>
            <a:ext cx="3657600" cy="38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</a:rPr>
              <a:t>VISIBLE — Above the Surface</a:t>
            </a:r>
          </a:p>
        </p:txBody>
      </p:sp>
      <p:sp>
        <p:nvSpPr>
          <p:cNvPr id="6" name="VisTip"/>
          <p:cNvSpPr/>
          <p:nvPr/>
        </p:nvSpPr>
        <p:spPr>
          <a:xfrm>
            <a:off x="548640" y="1676400"/>
            <a:ext cx="3657600" cy="2972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</a:rPr>
              <a:t>Knowledge (Can be trained)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</a:rPr>
              <a:t>Labor Laws, Recruitment Process, HR Policies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</a:rPr>
              <a:t>Skills (Can be trained)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</a:rPr>
              <a:t>Excel, Power BI, Reporting, Data Analysis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</a:rPr>
              <a:t>Easy to observe, measure, and develop through training</a:t>
            </a:r>
          </a:p>
        </p:txBody>
      </p:sp>
      <p:sp>
        <p:nvSpPr>
          <p:cNvPr id="7" name="HiddenBg"/>
          <p:cNvSpPr/>
          <p:nvPr/>
        </p:nvSpPr>
        <p:spPr>
          <a:xfrm>
            <a:off x="4800600" y="1219200"/>
            <a:ext cx="3886200" cy="3581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9050">
            <a:solidFill>
              <a:srgbClr val="1E2761"/>
            </a:solidFill>
          </a:ln>
        </p:spPr>
      </p:sp>
      <p:sp>
        <p:nvSpPr>
          <p:cNvPr id="8" name="HidLbl"/>
          <p:cNvSpPr/>
          <p:nvPr/>
        </p:nvSpPr>
        <p:spPr>
          <a:xfrm>
            <a:off x="4892040" y="1280160"/>
            <a:ext cx="3657600" cy="38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</a:rPr>
              <a:t>HIDDEN — Below the Surface</a:t>
            </a:r>
          </a:p>
        </p:txBody>
      </p:sp>
      <p:sp>
        <p:nvSpPr>
          <p:cNvPr id="9" name="HidContent"/>
          <p:cNvSpPr/>
          <p:nvPr/>
        </p:nvSpPr>
        <p:spPr>
          <a:xfrm>
            <a:off x="4892040" y="1676400"/>
            <a:ext cx="3657600" cy="2972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</a:rPr>
              <a:t>Self-Concept (Difficult to change)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</a:rPr>
              <a:t>How one sees oneself — e.g. "I am a leader"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</a:rPr>
              <a:t>Traits (Very difficult to train)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</a:rPr>
              <a:t>Patience, Confidence, Resilience, Empathy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</a:rPr>
              <a:t>Motives (Hardest to change)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</a:rPr>
              <a:t>Desire to achieve, influence, lead, and help others grow</a:t>
            </a:r>
          </a:p>
        </p:txBody>
      </p:sp>
      <p:sp>
        <p:nvSpPr>
          <p:cNvPr id="10" name="InsightBg"/>
          <p:cNvSpPr/>
          <p:nvPr/>
        </p:nvSpPr>
        <p:spPr>
          <a:xfrm>
            <a:off x="457200" y="4877040"/>
            <a:ext cx="8229600" cy="228600"/>
          </a:xfrm>
          <a:prstGeom prst="rect">
            <a:avLst/>
          </a:prstGeom>
          <a:solidFill>
            <a:srgbClr val="02C39A"/>
          </a:solidFill>
          <a:ln>
            <a:noFill/>
          </a:ln>
        </p:spPr>
      </p:sp>
      <p:sp>
        <p:nvSpPr>
          <p:cNvPr id="11" name="Insight"/>
          <p:cNvSpPr/>
          <p:nvPr/>
        </p:nvSpPr>
        <p:spPr>
          <a:xfrm>
            <a:off x="457200" y="4877040"/>
            <a:ext cx="8229600" cy="2286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Strategic Insight: This project targets hidden competencies — the true predictors of sustained high performance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39460"/>
            <a:ext cx="97061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</a:rPr>
              <a:t>SHL OPQ Framework — Behavioral Indicators by Category</a:t>
            </a:r>
          </a:p>
        </p:txBody>
      </p:sp>
      <p:sp>
        <p:nvSpPr>
          <p:cNvPr id="3" name="Sub"/>
          <p:cNvSpPr/>
          <p:nvPr/>
        </p:nvSpPr>
        <p:spPr>
          <a:xfrm>
            <a:off x="457200" y="795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</a:rPr>
              <a:t>Defines observable behavioral anchors for each competency — tells us HOW to measure what we cannot directly see</a:t>
            </a:r>
          </a:p>
        </p:txBody>
      </p:sp>
      <p:sp>
        <p:nvSpPr>
          <p:cNvPr id="4" name="Cat1Bg"/>
          <p:cNvSpPr/>
          <p:nvPr/>
        </p:nvSpPr>
        <p:spPr>
          <a:xfrm>
            <a:off x="457200" y="1158240"/>
            <a:ext cx="2590800" cy="13716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0">
            <a:noFill/>
          </a:ln>
        </p:spPr>
      </p:sp>
      <p:sp>
        <p:nvSpPr>
          <p:cNvPr id="5" name="Cat1Txt"/>
          <p:cNvSpPr/>
          <p:nvPr/>
        </p:nvSpPr>
        <p:spPr>
          <a:xfrm>
            <a:off x="548640" y="1219200"/>
            <a:ext cx="2400840" cy="1280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</a:rPr>
              <a:t>Relating &amp; Networking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</a:rPr>
              <a:t>Builds relationships, Influences stakeholders, Gains commitment, Builds networks</a:t>
            </a:r>
          </a:p>
        </p:txBody>
      </p:sp>
      <p:sp>
        <p:nvSpPr>
          <p:cNvPr id="6" name="Cat2Bg"/>
          <p:cNvSpPr/>
          <p:nvPr/>
        </p:nvSpPr>
        <p:spPr>
          <a:xfrm>
            <a:off x="3139440" y="1158240"/>
            <a:ext cx="2590800" cy="137160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 w="0">
            <a:noFill/>
          </a:ln>
        </p:spPr>
      </p:sp>
      <p:sp>
        <p:nvSpPr>
          <p:cNvPr id="7" name="Cat2Txt"/>
          <p:cNvSpPr/>
          <p:nvPr/>
        </p:nvSpPr>
        <p:spPr>
          <a:xfrm>
            <a:off x="3230880" y="1219200"/>
            <a:ext cx="2400840" cy="1280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</a:rPr>
              <a:t>Analyzing &amp; Interpreting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</a:rPr>
              <a:t>Uses evidence, Solves problems logically, Applies data to decisions</a:t>
            </a:r>
          </a:p>
        </p:txBody>
      </p:sp>
      <p:sp>
        <p:nvSpPr>
          <p:cNvPr id="8" name="Cat3Bg"/>
          <p:cNvSpPr/>
          <p:nvPr/>
        </p:nvSpPr>
        <p:spPr>
          <a:xfrm>
            <a:off x="5821680" y="1158240"/>
            <a:ext cx="2380320" cy="1371600"/>
          </a:xfrm>
          <a:prstGeom prst="roundRect">
            <a:avLst>
              <a:gd name="adj" fmla="val 10000"/>
            </a:avLst>
          </a:prstGeom>
          <a:solidFill>
            <a:srgbClr val="1A4A6A"/>
          </a:solidFill>
          <a:ln w="0">
            <a:noFill/>
          </a:ln>
        </p:spPr>
      </p:sp>
      <p:sp>
        <p:nvSpPr>
          <p:cNvPr id="9" name="Cat3Txt"/>
          <p:cNvSpPr/>
          <p:nvPr/>
        </p:nvSpPr>
        <p:spPr>
          <a:xfrm>
            <a:off x="5913120" y="1219200"/>
            <a:ext cx="2195640" cy="1280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</a:rPr>
              <a:t>Creating &amp; Conceptualizing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</a:rPr>
              <a:t>Strategic thinking, Innovation, Generates new ideas</a:t>
            </a:r>
          </a:p>
        </p:txBody>
      </p:sp>
      <p:sp>
        <p:nvSpPr>
          <p:cNvPr id="10" name="Cat4Bg"/>
          <p:cNvSpPr/>
          <p:nvPr/>
        </p:nvSpPr>
        <p:spPr>
          <a:xfrm>
            <a:off x="1798920" y="2700720"/>
            <a:ext cx="2590800" cy="13716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0">
            <a:noFill/>
          </a:ln>
        </p:spPr>
      </p:sp>
      <p:sp>
        <p:nvSpPr>
          <p:cNvPr id="11" name="Cat4Txt"/>
          <p:cNvSpPr/>
          <p:nvPr/>
        </p:nvSpPr>
        <p:spPr>
          <a:xfrm>
            <a:off x="1890360" y="2761680"/>
            <a:ext cx="2400840" cy="1280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</a:rPr>
              <a:t>Organizing &amp; Executing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</a:rPr>
              <a:t>Planning, Attention to detail, Meets deadlines, Structured execution</a:t>
            </a:r>
          </a:p>
        </p:txBody>
      </p:sp>
      <p:sp>
        <p:nvSpPr>
          <p:cNvPr id="12" name="Cat5Bg"/>
          <p:cNvSpPr/>
          <p:nvPr/>
        </p:nvSpPr>
        <p:spPr>
          <a:xfrm>
            <a:off x="4755000" y="2700720"/>
            <a:ext cx="2590800" cy="137160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 w="0">
            <a:noFill/>
          </a:ln>
        </p:spPr>
      </p:sp>
      <p:sp>
        <p:nvSpPr>
          <p:cNvPr id="13" name="Cat5Txt"/>
          <p:cNvSpPr/>
          <p:nvPr/>
        </p:nvSpPr>
        <p:spPr>
          <a:xfrm>
            <a:off x="4846440" y="2761680"/>
            <a:ext cx="2400840" cy="1280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</a:rPr>
              <a:t>Leading &amp; Deciding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</a:rPr>
              <a:t>Takes initiative, Makes decisions, Drives accountability</a:t>
            </a:r>
          </a:p>
        </p:txBody>
      </p:sp>
      <p:sp>
        <p:nvSpPr>
          <p:cNvPr id="14" name="RatingBg"/>
          <p:cNvSpPr/>
          <p:nvPr/>
        </p:nvSpPr>
        <p:spPr>
          <a:xfrm>
            <a:off x="457200" y="4251960"/>
            <a:ext cx="8229600" cy="685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028090"/>
            </a:solidFill>
          </a:ln>
        </p:spPr>
      </p:sp>
      <p:sp>
        <p:nvSpPr>
          <p:cNvPr id="15" name="RatingTxt"/>
          <p:cNvSpPr/>
          <p:nvPr/>
        </p:nvSpPr>
        <p:spPr>
          <a:xfrm>
            <a:off x="548640" y="4294440"/>
            <a:ext cx="8046720" cy="609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</a:rPr>
              <a:t>Behavioral Rating Anchors (Example: Relationship Building) —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</a:rPr>
              <a:t>Score 1: Avoids interaction  |  Score 3: Maintains relationships  |  Score 5: Builds strong trusted partnerships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96240" y="29260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</a:rPr>
              <a:t>How Competencies Are Identified — Interview Analysis Logic</a:t>
            </a:r>
          </a:p>
        </p:txBody>
      </p:sp>
      <p:sp>
        <p:nvSpPr>
          <p:cNvPr id="3" name="Sub"/>
          <p:cNvSpPr/>
          <p:nvPr/>
        </p:nvSpPr>
        <p:spPr>
          <a:xfrm>
            <a:off x="457200" y="795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</a:rPr>
              <a:t>Frequency of themes across top performers drives competency selection and weighting</a:t>
            </a:r>
          </a:p>
        </p:txBody>
      </p:sp>
      <p:sp>
        <p:nvSpPr>
          <p:cNvPr id="4" name="TableBg"/>
          <p:cNvSpPr/>
          <p:nvPr/>
        </p:nvSpPr>
        <p:spPr>
          <a:xfrm>
            <a:off x="457200" y="1158240"/>
            <a:ext cx="3886200" cy="35814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9050">
            <a:solidFill>
              <a:srgbClr val="1E2761"/>
            </a:solidFill>
          </a:ln>
        </p:spPr>
      </p:sp>
      <p:sp>
        <p:nvSpPr>
          <p:cNvPr id="5" name="TableContent"/>
          <p:cNvSpPr/>
          <p:nvPr/>
        </p:nvSpPr>
        <p:spPr>
          <a:xfrm>
            <a:off x="548640" y="1219200"/>
            <a:ext cx="3703320" cy="34290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</a:rPr>
              <a:t>Interview Theme Frequency Table</a:t>
            </a:r>
          </a:p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</a:rPr>
              <a:t>Out of 10 top performers interviewed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</a:rPr>
              <a:t>Competency Theme                  Frequency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</a:rPr>
              <a:t>Conflict Management                     9/10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</a:rPr>
              <a:t>Relationship Building                     8/10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</a:rPr>
              <a:t>Influencing Others                         8/10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</a:rPr>
              <a:t>HR Expertise                                  7/10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i="1" dirty="0">
                <a:solidFill>
                  <a:srgbClr val="02C39A"/>
                </a:solidFill>
                <a:latin typeface="Calibri" pitchFamily="34" charset="0"/>
              </a:rPr>
              <a:t>Higher frequency = stronger evidence = higher weight assigned</a:t>
            </a:r>
          </a:p>
        </p:txBody>
      </p:sp>
      <p:sp>
        <p:nvSpPr>
          <p:cNvPr id="6" name="RightBg"/>
          <p:cNvSpPr/>
          <p:nvPr/>
        </p:nvSpPr>
        <p:spPr>
          <a:xfrm>
            <a:off x="4800600" y="1158240"/>
            <a:ext cx="3886200" cy="16154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 w="0">
            <a:noFill/>
          </a:ln>
        </p:spPr>
      </p:sp>
      <p:sp>
        <p:nvSpPr>
          <p:cNvPr id="7" name="LomingerTxt"/>
          <p:cNvSpPr/>
          <p:nvPr/>
        </p:nvSpPr>
        <p:spPr>
          <a:xfrm>
            <a:off x="4892040" y="1219200"/>
            <a:ext cx="3703320" cy="1463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</a:rPr>
              <a:t>Lominger Mapping Example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</a:rPr>
              <a:t>Interview: "Good with people" → Interpersonal Savvy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</a:rPr>
              <a:t>Interview: "Solves issues" → Problem Solving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</a:rPr>
              <a:t>Interview: "Persuades managers" → Influencing Others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02C39A"/>
                </a:solidFill>
                <a:latin typeface="Calibri" pitchFamily="34" charset="0"/>
              </a:rPr>
              <a:t>67 Lominger competencies used to standardize interview themes</a:t>
            </a:r>
          </a:p>
        </p:txBody>
      </p:sp>
      <p:sp>
        <p:nvSpPr>
          <p:cNvPr id="8" name="BenchBg"/>
          <p:cNvSpPr/>
          <p:nvPr/>
        </p:nvSpPr>
        <p:spPr>
          <a:xfrm>
            <a:off x="4800600" y="2834640"/>
            <a:ext cx="3886200" cy="19050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9050">
            <a:solidFill>
              <a:srgbClr val="028090"/>
            </a:solidFill>
          </a:ln>
        </p:spPr>
      </p:sp>
      <p:sp>
        <p:nvSpPr>
          <p:cNvPr id="9" name="BenchTxt"/>
          <p:cNvSpPr/>
          <p:nvPr/>
        </p:nvSpPr>
        <p:spPr>
          <a:xfrm>
            <a:off x="4892040" y="2895600"/>
            <a:ext cx="3703320" cy="17625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</a:rPr>
              <a:t>Benchmark Group Creation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</a:rPr>
              <a:t>High Performers  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</a:rPr>
              <a:t>Top 30%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</a:rPr>
              <a:t>Mid Performers    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</a:rPr>
              <a:t>Middle 40%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</a:rPr>
              <a:t>Low Performers    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</a:rPr>
              <a:t>Bottom 30%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</a:rPr>
              <a:t>Used for correlation analysis and predictive validity testing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</a:rPr>
              <a:t>Master Data Table Structure &amp; Analytics Plan</a:t>
            </a:r>
          </a:p>
        </p:txBody>
      </p:sp>
      <p:sp>
        <p:nvSpPr>
          <p:cNvPr id="3" name="Sub"/>
          <p:cNvSpPr/>
          <p:nvPr/>
        </p:nvSpPr>
        <p:spPr>
          <a:xfrm>
            <a:off x="457200" y="795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</a:rPr>
              <a:t>How data will be structured, combined, and used to validate the competency model</a:t>
            </a:r>
          </a:p>
        </p:txBody>
      </p:sp>
      <p:sp>
        <p:nvSpPr>
          <p:cNvPr id="4" name="TableHdr"/>
          <p:cNvSpPr/>
          <p:nvPr/>
        </p:nvSpPr>
        <p:spPr>
          <a:xfrm>
            <a:off x="457200" y="1158240"/>
            <a:ext cx="8229600" cy="38052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 w="0">
            <a:noFill/>
          </a:ln>
        </p:spPr>
      </p:sp>
      <p:sp>
        <p:nvSpPr>
          <p:cNvPr id="5" name="TableHdrTxt"/>
          <p:cNvSpPr/>
          <p:nvPr/>
        </p:nvSpPr>
        <p:spPr>
          <a:xfrm>
            <a:off x="548640" y="1158240"/>
            <a:ext cx="8046720" cy="38052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Employee ID  |  Role  |  Performance Rating  |  Tenure  |  L&amp;D Hours  |  Competency Survey Scores  |  Interview Scores</a:t>
            </a:r>
          </a:p>
        </p:txBody>
      </p:sp>
      <p:sp>
        <p:nvSpPr>
          <p:cNvPr id="6" name="TableExp"/>
          <p:cNvSpPr/>
          <p:nvPr/>
        </p:nvSpPr>
        <p:spPr>
          <a:xfrm>
            <a:off x="457200" y="1584720"/>
            <a:ext cx="8229600" cy="3048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</p:sp>
      <p:sp>
        <p:nvSpPr>
          <p:cNvPr id="7" name="TableExpTxt"/>
          <p:cNvSpPr/>
          <p:nvPr/>
        </p:nvSpPr>
        <p:spPr>
          <a:xfrm>
            <a:off x="548640" y="1584720"/>
            <a:ext cx="8046720" cy="3048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</a:rPr>
              <a:t>One unified table combining HR records + competency scores — enabling correlation analysis between competency ratings and performance outcomes</a:t>
            </a:r>
          </a:p>
        </p:txBody>
      </p:sp>
      <p:sp>
        <p:nvSpPr>
          <p:cNvPr id="8" name="A1Bg"/>
          <p:cNvSpPr/>
          <p:nvPr/>
        </p:nvSpPr>
        <p:spPr>
          <a:xfrm>
            <a:off x="457200" y="1981200"/>
            <a:ext cx="2590800" cy="1676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0">
            <a:noFill/>
          </a:ln>
        </p:spPr>
      </p:sp>
      <p:sp>
        <p:nvSpPr>
          <p:cNvPr id="9" name="A1Txt"/>
          <p:cNvSpPr/>
          <p:nvPr/>
        </p:nvSpPr>
        <p:spPr>
          <a:xfrm>
            <a:off x="548640" y="2042160"/>
            <a:ext cx="2400840" cy="1554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</a:rPr>
              <a:t>Correlation Analysis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</a:rPr>
              <a:t>Identify which competencies are most strongly linked to performance ratings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</a:rPr>
              <a:t>Output: Competency → Performance correlation coefficient</a:t>
            </a:r>
          </a:p>
        </p:txBody>
      </p:sp>
      <p:sp>
        <p:nvSpPr>
          <p:cNvPr id="10" name="A2Bg"/>
          <p:cNvSpPr/>
          <p:nvPr/>
        </p:nvSpPr>
        <p:spPr>
          <a:xfrm>
            <a:off x="3139440" y="1981200"/>
            <a:ext cx="2590800" cy="16764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 w="0">
            <a:noFill/>
          </a:ln>
        </p:spPr>
      </p:sp>
      <p:sp>
        <p:nvSpPr>
          <p:cNvPr id="11" name="A2Txt"/>
          <p:cNvSpPr/>
          <p:nvPr/>
        </p:nvSpPr>
        <p:spPr>
          <a:xfrm>
            <a:off x="3230880" y="2042160"/>
            <a:ext cx="2400840" cy="1554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</a:rPr>
              <a:t>Appraisal Text Analysis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</a:rPr>
              <a:t>Map appraisal language to competency anchors. Build competency-based language dictionary from real manager feedback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</a:rPr>
              <a:t>Output: Competency-based language anchors per role</a:t>
            </a:r>
          </a:p>
        </p:txBody>
      </p:sp>
      <p:sp>
        <p:nvSpPr>
          <p:cNvPr id="12" name="A3Bg"/>
          <p:cNvSpPr/>
          <p:nvPr/>
        </p:nvSpPr>
        <p:spPr>
          <a:xfrm>
            <a:off x="5821680" y="1981200"/>
            <a:ext cx="2380320" cy="1676400"/>
          </a:xfrm>
          <a:prstGeom prst="roundRect">
            <a:avLst>
              <a:gd name="adj" fmla="val 8000"/>
            </a:avLst>
          </a:prstGeom>
          <a:solidFill>
            <a:srgbClr val="1A4A6A"/>
          </a:solidFill>
          <a:ln w="0">
            <a:noFill/>
          </a:ln>
        </p:spPr>
      </p:sp>
      <p:sp>
        <p:nvSpPr>
          <p:cNvPr id="13" name="A3Txt"/>
          <p:cNvSpPr/>
          <p:nvPr/>
        </p:nvSpPr>
        <p:spPr>
          <a:xfrm>
            <a:off x="5913120" y="2042160"/>
            <a:ext cx="2195640" cy="1554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</a:rPr>
              <a:t>Predictive Validity Testing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</a:rPr>
              <a:t>Test if high competency scores predict promotions and low scores predict attrition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</a:rPr>
              <a:t>Output: Risk flags and success predictors</a:t>
            </a:r>
          </a:p>
        </p:txBody>
      </p:sp>
      <p:sp>
        <p:nvSpPr>
          <p:cNvPr id="14" name="FormulaBg"/>
          <p:cNvSpPr/>
          <p:nvPr/>
        </p:nvSpPr>
        <p:spPr>
          <a:xfrm>
            <a:off x="457200" y="3733320"/>
            <a:ext cx="8229600" cy="685800"/>
          </a:xfrm>
          <a:prstGeom prst="roundRect">
            <a:avLst>
              <a:gd name="adj" fmla="val 5000"/>
            </a:avLst>
          </a:prstGeom>
          <a:solidFill>
            <a:srgbClr val="02C39A"/>
          </a:solidFill>
          <a:ln w="0">
            <a:noFill/>
          </a:ln>
        </p:spPr>
      </p:sp>
      <p:sp>
        <p:nvSpPr>
          <p:cNvPr id="15" name="FormulaTxt"/>
          <p:cNvSpPr/>
          <p:nvPr/>
        </p:nvSpPr>
        <p:spPr>
          <a:xfrm>
            <a:off x="548640" y="3776040"/>
            <a:ext cx="8046720" cy="6096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Success Score  =  Interview Score per Competency  +  Survey Score per Competency  +  HR Data Indicators  =  Likelihood of Success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Competencies Identified So Far (Example)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15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interview analysis — higher frequency = stronger evidence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4114800" cy="3200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Weight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Influencing Others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 Thinking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 Building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Solving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Expertise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Agility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846320" y="1234440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983480" y="13533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Scoring Formula</a:t>
            </a:r>
            <a:endParaRPr lang="en-US" sz="1200" dirty="0"/>
          </a:p>
        </p:txBody>
      </p:sp>
      <p:sp>
        <p:nvSpPr>
          <p:cNvPr id="4" name="Text 4"/>
          <p:cNvSpPr/>
          <p:nvPr/>
        </p:nvSpPr>
        <p:spPr>
          <a:xfrm>
            <a:off x="498348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 × 25%) Influencing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983480" y="20939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× 20%) Strategic Thinking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983480" y="2404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 × 20%) Relationship Building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983480" y="2715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 × 15%) Problem Solving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983480" y="3026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× 10%) HR Expertise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98348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 × 10%) Learning Agility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983480" y="3721608"/>
            <a:ext cx="34747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83480" y="37673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83% → High Potential Performer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464515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Competencies and weights will be finalized after interview analysis and HR data validation.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 Will Validate the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existing HR data to test whether competencies actually predict performance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80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Performance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Ratings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103120" y="1531620"/>
            <a:ext cx="4114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14600" y="1280160"/>
            <a:ext cx="630936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128016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Variable (Y) — does competency score predict rating?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84248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842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Tenure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03120" y="2235708"/>
            <a:ext cx="4114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14600" y="1984248"/>
            <a:ext cx="630936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1984248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high performers stay longer? → Positive correlation = strong predictor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88336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1A4A6A"/>
          </a:solidFill>
          <a:ln w="12700">
            <a:solidFill>
              <a:srgbClr val="1A4A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68833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L&amp;D Hours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03120" y="2939796"/>
            <a:ext cx="4114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14600" y="2688336"/>
            <a:ext cx="630936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06040" y="2688336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top performers invest more in learning? → Validates Learning Agility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392424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9242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Promotion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History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103120" y="3643884"/>
            <a:ext cx="4114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14600" y="3392424"/>
            <a:ext cx="630936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06040" y="3392424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competency score → promoted more often? → Predictive validity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096512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09651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Attrition 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Exit Data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103120" y="4347972"/>
            <a:ext cx="4114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14600" y="4096512"/>
            <a:ext cx="630936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06040" y="4096512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competency gaps link to exits? → Identifies risk flags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Timeline &amp; Milestones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8-week structured execution plan | June 3 – July 31, 2026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606040" cy="64008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6187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– Foundation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59105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Wks 1–3 | Jun 3–20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154680" y="1234440"/>
            <a:ext cx="3063240" cy="640080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126187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– Collection &amp; Analysis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46120" y="1591056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Wks 4–6 | Jun 21–Jul 18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0" y="1234440"/>
            <a:ext cx="2377440" cy="640080"/>
          </a:xfrm>
          <a:prstGeom prst="roundRect">
            <a:avLst>
              <a:gd name="adj" fmla="val 14286"/>
            </a:avLst>
          </a:prstGeom>
          <a:solidFill>
            <a:srgbClr val="1A4A6A"/>
          </a:solidFill>
          <a:ln w="12700">
            <a:solidFill>
              <a:srgbClr val="1A4A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2618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– Build &amp; Deliver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15910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Wks 7–8 | Jul 19–31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96596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2064" y="2167128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057400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kickoff &amp; onboarding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2788920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2679192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mapping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410712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3300984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(3–5 frameworks)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032504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3922776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identification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154680" y="1965960"/>
            <a:ext cx="3063240" cy="2880360"/>
          </a:xfrm>
          <a:prstGeom prst="roundRect">
            <a:avLst>
              <a:gd name="adj" fmla="val 254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91840" y="2167128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93592" y="2057400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/ interview design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91840" y="2788920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93592" y="2679192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 collection (50+ responses)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91840" y="3410712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93592" y="3300984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EDA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91840" y="4032504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93592" y="3922776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identification &amp; correlation analysis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0800" y="1965960"/>
            <a:ext cx="2377440" cy="2880360"/>
          </a:xfrm>
          <a:prstGeom prst="roundRect">
            <a:avLst>
              <a:gd name="adj" fmla="val 307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37960" y="2167128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39712" y="205740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predictor framework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537960" y="2788920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39712" y="2679192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success profiles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537960" y="3410712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39712" y="3300984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HR dashboard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537960" y="4032504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39712" y="392277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&amp; presentation</a:t>
            </a:r>
            <a:endParaRPr lang="en-US" sz="1050" dirty="0"/>
          </a:p>
        </p:txBody>
      </p:sp>
      <p:pic>
        <p:nvPicPr>
          <p:cNvPr id="41" name="Graphic 40" descr="Checkmark">
            <a:extLst>
              <a:ext uri="{FF2B5EF4-FFF2-40B4-BE49-F238E27FC236}">
                <a16:creationId xmlns:a16="http://schemas.microsoft.com/office/drawing/2014/main" id="{144B782F-CDCD-4093-9576-5D8B2F9754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934" y="1927690"/>
            <a:ext cx="488019" cy="488019"/>
          </a:xfrm>
          <a:prstGeom prst="rect">
            <a:avLst/>
          </a:prstGeom>
        </p:spPr>
      </p:pic>
      <p:pic>
        <p:nvPicPr>
          <p:cNvPr id="42" name="Graphic 41" descr="Checkmark">
            <a:extLst>
              <a:ext uri="{FF2B5EF4-FFF2-40B4-BE49-F238E27FC236}">
                <a16:creationId xmlns:a16="http://schemas.microsoft.com/office/drawing/2014/main" id="{8D94337F-3632-41C1-A0D8-7B09D60AA9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2486" y="3187362"/>
            <a:ext cx="488019" cy="48801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Documents Requested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awaiting the following from my mentor — will begin analysis once received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206240" cy="3657600"/>
          </a:xfrm>
          <a:prstGeom prst="roundRect">
            <a:avLst>
              <a:gd name="adj" fmla="val 3000"/>
            </a:avLst>
          </a:prstGeom>
          <a:solidFill>
            <a:srgbClr val="2A3580"/>
          </a:solidFill>
          <a:ln w="12700">
            <a:solidFill>
              <a:srgbClr val="3A4A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Data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81051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ratings (anonymized, last 2–3 years)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59736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35000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data by role /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999232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88950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history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538728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4290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&amp; Development hours per employee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078224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396849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and exit interview data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1234440"/>
            <a:ext cx="4206240" cy="3657600"/>
          </a:xfrm>
          <a:prstGeom prst="roundRect">
            <a:avLst>
              <a:gd name="adj" fmla="val 3000"/>
            </a:avLst>
          </a:prstGeom>
          <a:solidFill>
            <a:srgbClr val="2A3580"/>
          </a:solidFill>
          <a:ln w="12700">
            <a:solidFill>
              <a:srgbClr val="3A4A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Documents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83480" y="192024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76088" y="181051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Appraisal comment forms / templates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83480" y="2459736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76088" y="235000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job description for role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83480" y="2999232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76088" y="288950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competency surveys or assessment tools (if any)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83480" y="3538728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76088" y="34290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structure / department headcount data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736592"/>
            <a:ext cx="8412480" cy="292608"/>
          </a:xfrm>
          <a:prstGeom prst="roundRect">
            <a:avLst>
              <a:gd name="adj" fmla="val 21875"/>
            </a:avLst>
          </a:prstGeom>
          <a:solidFill>
            <a:srgbClr val="028090">
              <a:alpha val="8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7365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Once data is received → Phase 2 (Data Cleaning, EDA &amp; Survey Design) will begin immediately</a:t>
            </a:r>
            <a:endParaRPr lang="en-US" sz="1050" dirty="0"/>
          </a:p>
        </p:txBody>
      </p:sp>
      <p:pic>
        <p:nvPicPr>
          <p:cNvPr id="28" name="Graphic 27" descr="Checkmark">
            <a:extLst>
              <a:ext uri="{FF2B5EF4-FFF2-40B4-BE49-F238E27FC236}">
                <a16:creationId xmlns:a16="http://schemas.microsoft.com/office/drawing/2014/main" id="{B27F03B7-CE63-408A-BF70-F2D80D024C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1656249"/>
            <a:ext cx="488019" cy="488019"/>
          </a:xfrm>
          <a:prstGeom prst="rect">
            <a:avLst/>
          </a:prstGeom>
        </p:spPr>
      </p:pic>
      <p:pic>
        <p:nvPicPr>
          <p:cNvPr id="29" name="Graphic 28" descr="Checkmark">
            <a:extLst>
              <a:ext uri="{FF2B5EF4-FFF2-40B4-BE49-F238E27FC236}">
                <a16:creationId xmlns:a16="http://schemas.microsoft.com/office/drawing/2014/main" id="{702B49EF-F484-48F8-BD51-AB2C0D17DD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2204720"/>
            <a:ext cx="488019" cy="488019"/>
          </a:xfrm>
          <a:prstGeom prst="rect">
            <a:avLst/>
          </a:prstGeom>
        </p:spPr>
      </p:pic>
      <p:pic>
        <p:nvPicPr>
          <p:cNvPr id="30" name="Graphic 29" descr="Checkmark">
            <a:extLst>
              <a:ext uri="{FF2B5EF4-FFF2-40B4-BE49-F238E27FC236}">
                <a16:creationId xmlns:a16="http://schemas.microsoft.com/office/drawing/2014/main" id="{751F5DA4-2940-45F0-AA4A-F399B194C9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934" y="3831336"/>
            <a:ext cx="488019" cy="488019"/>
          </a:xfrm>
          <a:prstGeom prst="rect">
            <a:avLst/>
          </a:prstGeom>
        </p:spPr>
      </p:pic>
      <p:pic>
        <p:nvPicPr>
          <p:cNvPr id="31" name="Graphic 30" descr="Checkmark">
            <a:extLst>
              <a:ext uri="{FF2B5EF4-FFF2-40B4-BE49-F238E27FC236}">
                <a16:creationId xmlns:a16="http://schemas.microsoft.com/office/drawing/2014/main" id="{FDC8AFFD-B1D4-4748-904F-10562DB96F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01522" y="3267286"/>
            <a:ext cx="488019" cy="488019"/>
          </a:xfrm>
          <a:prstGeom prst="rect">
            <a:avLst/>
          </a:prstGeom>
        </p:spPr>
      </p:pic>
      <p:pic>
        <p:nvPicPr>
          <p:cNvPr id="32" name="Graphic 31" descr="Checkmark">
            <a:extLst>
              <a:ext uri="{FF2B5EF4-FFF2-40B4-BE49-F238E27FC236}">
                <a16:creationId xmlns:a16="http://schemas.microsoft.com/office/drawing/2014/main" id="{324B2718-071E-420E-87E7-548B32DC9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2741507"/>
            <a:ext cx="488019" cy="48801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Deliverables by July 31, 2026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4160520" cy="804672"/>
          </a:xfrm>
          <a:prstGeom prst="roundRect">
            <a:avLst>
              <a:gd name="adj" fmla="val 1136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75488" y="1371600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371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261872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 Interview / Survey Summary Report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005840" y="160020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from HR and business input documented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121408"/>
            <a:ext cx="4160520" cy="804672"/>
          </a:xfrm>
          <a:prstGeom prst="roundRect">
            <a:avLst>
              <a:gd name="adj" fmla="val 1136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" y="2304288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304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194560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Competency &amp; Literature Review Document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05840" y="253288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frameworks synthesized with recommendations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054096"/>
            <a:ext cx="4160520" cy="804672"/>
          </a:xfrm>
          <a:prstGeom prst="roundRect">
            <a:avLst>
              <a:gd name="adj" fmla="val 1136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" y="3236976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236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3127248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Cleaned HR Dataset + EDA Report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05840" y="346557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statistics, distributions, correlation insights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986784"/>
            <a:ext cx="4160520" cy="804672"/>
          </a:xfrm>
          <a:prstGeom prst="roundRect">
            <a:avLst>
              <a:gd name="adj" fmla="val 1136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" y="4169664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4169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4059936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Profile Templates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05840" y="4398264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2 key roles — competency levels &amp; behavioral indicators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1188720"/>
            <a:ext cx="4160520" cy="804672"/>
          </a:xfrm>
          <a:prstGeom prst="roundRect">
            <a:avLst>
              <a:gd name="adj" fmla="val 1136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18888" y="1371600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8888" y="1371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49240" y="1261872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Predictor Scoring Framework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349240" y="160020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Excel/scoring matrix with documented methodology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2121408"/>
            <a:ext cx="4160520" cy="804672"/>
          </a:xfrm>
          <a:prstGeom prst="roundRect">
            <a:avLst>
              <a:gd name="adj" fmla="val 1136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18888" y="2304288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8888" y="2304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49240" y="2194560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Dashboard / Infographic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349240" y="253288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findings for HR leadership presentation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3054096"/>
            <a:ext cx="4160520" cy="804672"/>
          </a:xfrm>
          <a:prstGeom prst="roundRect">
            <a:avLst>
              <a:gd name="adj" fmla="val 1136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18888" y="3236976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18888" y="3236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49240" y="3127248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Project Report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349240" y="346557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write-up of methodology, findings, and recommendations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09160" y="3986784"/>
            <a:ext cx="4160520" cy="804672"/>
          </a:xfrm>
          <a:prstGeom prst="roundRect">
            <a:avLst>
              <a:gd name="adj" fmla="val 1136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18888" y="4169664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18888" y="4169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349240" y="4059936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Presentation Deck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349240" y="4398264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 slides for presentation to HR Head &amp; mentor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43891" y="3474720"/>
            <a:ext cx="3657600" cy="3657600"/>
          </a:xfrm>
          <a:prstGeom prst="ellipse">
            <a:avLst/>
          </a:prstGeom>
          <a:solidFill>
            <a:srgbClr val="2A3580">
              <a:alpha val="50000"/>
            </a:srgbClr>
          </a:solidFill>
          <a:ln w="12700">
            <a:solidFill>
              <a:srgbClr val="2A35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3566160" y="2194560"/>
            <a:ext cx="201168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 questions and discussion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Vivek Kumar 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HR Analytics Intern  |  </a:t>
            </a: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3 – July 31,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931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Ms. Anisha Sharma  |  Guide: Ms. Arya Khamparia  |  Sponsor: Mr. Bharat Bhushan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1119</TotalTime>
  <Words>1578</Words>
  <Application>Microsoft Office PowerPoint</Application>
  <PresentationFormat>On-screen Show (16:9)</PresentationFormat>
  <Paragraphs>293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Predictor &amp; Success Profile Analysis</dc:title>
  <dc:subject>PptxGenJS Presentation</dc:subject>
  <dc:creator>PptxGenJS</dc:creator>
  <cp:lastModifiedBy>Vivek267 Kumar</cp:lastModifiedBy>
  <cp:revision>7</cp:revision>
  <dcterms:created xsi:type="dcterms:W3CDTF">2026-06-11T09:42:02Z</dcterms:created>
  <dcterms:modified xsi:type="dcterms:W3CDTF">2026-06-24T05:44:59Z</dcterms:modified>
</cp:coreProperties>
</file>