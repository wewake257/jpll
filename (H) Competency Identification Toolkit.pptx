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00" cy="9144000"/>
  <p:notesSz cx="9144000" cy="16256000"/>
  <p:embeddedFontLst>
    <p:embeddedFont>
      <p:font typeface="Quattrocento Sans" charset="-122" pitchFamily="34"/>
      <p:regular r:id="rId27"/>
    </p:embeddedFont>
    <p:embeddedFont>
      <p:font typeface="Liter" charset="-122" pitchFamily="34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ly6glqi7ak7i/mnt/agents/output/competency-toolkit/images/5_Abstract_blue_technology_background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A2E">
                  <a:alpha val="90000"/>
                </a:srgbClr>
              </a:gs>
              <a:gs pos="50000">
                <a:srgbClr val="0F1A2E">
                  <a:alpha val="80000"/>
                </a:srgbClr>
              </a:gs>
              <a:gs pos="100000">
                <a:srgbClr val="0F1A2E">
                  <a:alpha val="9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508000"/>
            <a:ext cx="508000" cy="50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81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371600" y="508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JIO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62000" y="1143000"/>
            <a:ext cx="14732000" cy="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778000" y="2540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spc="4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COMPETENCY IDENTIFICATION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778000" y="3429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TOOLKIT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6223000" y="4254500"/>
            <a:ext cx="3810000" cy="50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3048000" y="4572000"/>
            <a:ext cx="1016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Behavioral Interview Guide &amp; Self-Administered Survey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Success Profile Analysis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540000" y="5969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40000" y="5969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Competencies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0" y="5969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5969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Sources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04000" y="5969000"/>
            <a:ext cx="2032000" cy="5080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04000" y="5969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50+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Respondents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890000" y="5969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90000" y="5969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Formats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922000" y="5969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22000" y="5969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Deliverables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62000" y="7874000"/>
            <a:ext cx="14732000" cy="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/>
          <p:nvPr/>
        </p:nvSpPr>
        <p:spPr>
          <a:xfrm>
            <a:off x="762000" y="812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22000" y="81280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June 2026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3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TOOLKIT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825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4986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62000" y="1778000"/>
            <a:ext cx="7112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16000" y="1968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32000" y="1968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Competency Challenge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32000" y="2413000"/>
            <a:ext cx="558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performance ratings cannot reveal what drives excellence, and how behavioral interviewing unlocks the "black box"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8382000" y="1778000"/>
            <a:ext cx="7112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36000" y="1968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652000" y="1968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10 Core Competency Domains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52000" y="2413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research-grounded framework covering behavioral dimensions that predict high performance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360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4191000"/>
            <a:ext cx="469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6000" y="4381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16000" y="4889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Interview Guide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16000" y="53340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protocols for Top Performers, Average Performers, and Managers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26000" y="565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067" y="100013"/>
                </a:moveTo>
                <a:cubicBezTo>
                  <a:pt x="237067" y="167521"/>
                  <a:pt x="183974" y="222250"/>
                  <a:pt x="118533" y="222250"/>
                </a:cubicBezTo>
                <a:cubicBezTo>
                  <a:pt x="102050" y="222250"/>
                  <a:pt x="86369" y="218777"/>
                  <a:pt x="72108" y="212527"/>
                </a:cubicBezTo>
                <a:lnTo>
                  <a:pt x="21731" y="242530"/>
                </a:lnTo>
                <a:cubicBezTo>
                  <a:pt x="15990" y="245934"/>
                  <a:pt x="8952" y="244753"/>
                  <a:pt x="4322" y="239613"/>
                </a:cubicBezTo>
                <a:cubicBezTo>
                  <a:pt x="-309" y="234474"/>
                  <a:pt x="-1358" y="226487"/>
                  <a:pt x="1729" y="220028"/>
                </a:cubicBezTo>
                <a:lnTo>
                  <a:pt x="23707" y="173355"/>
                </a:lnTo>
                <a:cubicBezTo>
                  <a:pt x="8828" y="152936"/>
                  <a:pt x="0" y="127516"/>
                  <a:pt x="0" y="100013"/>
                </a:cubicBezTo>
                <a:cubicBezTo>
                  <a:pt x="0" y="32504"/>
                  <a:pt x="53093" y="-22225"/>
                  <a:pt x="118533" y="-22225"/>
                </a:cubicBezTo>
                <a:cubicBezTo>
                  <a:pt x="183974" y="-22225"/>
                  <a:pt x="237067" y="32504"/>
                  <a:pt x="237067" y="100013"/>
                </a:cubicBezTo>
                <a:close/>
                <a:moveTo>
                  <a:pt x="237067" y="355600"/>
                </a:moveTo>
                <a:cubicBezTo>
                  <a:pt x="178973" y="355600"/>
                  <a:pt x="130634" y="312470"/>
                  <a:pt x="120509" y="255587"/>
                </a:cubicBezTo>
                <a:cubicBezTo>
                  <a:pt x="194592" y="254546"/>
                  <a:pt x="258983" y="195233"/>
                  <a:pt x="266083" y="114806"/>
                </a:cubicBezTo>
                <a:cubicBezTo>
                  <a:pt x="317509" y="128141"/>
                  <a:pt x="355600" y="176133"/>
                  <a:pt x="355600" y="233363"/>
                </a:cubicBezTo>
                <a:cubicBezTo>
                  <a:pt x="355600" y="260866"/>
                  <a:pt x="346772" y="286286"/>
                  <a:pt x="331893" y="306705"/>
                </a:cubicBezTo>
                <a:lnTo>
                  <a:pt x="353871" y="353378"/>
                </a:lnTo>
                <a:cubicBezTo>
                  <a:pt x="356896" y="359837"/>
                  <a:pt x="355847" y="367754"/>
                  <a:pt x="351278" y="372963"/>
                </a:cubicBezTo>
                <a:cubicBezTo>
                  <a:pt x="346710" y="378172"/>
                  <a:pt x="339610" y="379353"/>
                  <a:pt x="333869" y="375880"/>
                </a:cubicBezTo>
                <a:lnTo>
                  <a:pt x="283492" y="345877"/>
                </a:lnTo>
                <a:cubicBezTo>
                  <a:pt x="269231" y="352127"/>
                  <a:pt x="253550" y="355600"/>
                  <a:pt x="237067" y="35560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5778500" y="4191000"/>
            <a:ext cx="469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2500" y="4381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032500" y="4889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Self-Administered Survey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32500" y="53340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behavioral frequency ratings plus open-ended critical incidents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42500" y="565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369" y="22225"/>
                </a:moveTo>
                <a:lnTo>
                  <a:pt x="296333" y="22225"/>
                </a:lnTo>
                <a:cubicBezTo>
                  <a:pt x="329023" y="22225"/>
                  <a:pt x="355600" y="42158"/>
                  <a:pt x="355600" y="666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26577" y="22225"/>
                  <a:pt x="59267" y="22225"/>
                </a:cubicBezTo>
                <a:lnTo>
                  <a:pt x="67231" y="22225"/>
                </a:lnTo>
                <a:cubicBezTo>
                  <a:pt x="77417" y="8959"/>
                  <a:pt x="96586" y="0"/>
                  <a:pt x="118533" y="0"/>
                </a:cubicBezTo>
                <a:lnTo>
                  <a:pt x="237067" y="0"/>
                </a:lnTo>
                <a:cubicBezTo>
                  <a:pt x="259014" y="0"/>
                  <a:pt x="278183" y="8959"/>
                  <a:pt x="288369" y="22225"/>
                </a:cubicBezTo>
                <a:close/>
                <a:moveTo>
                  <a:pt x="229658" y="77788"/>
                </a:moveTo>
                <a:cubicBezTo>
                  <a:pt x="241975" y="77788"/>
                  <a:pt x="251883" y="70356"/>
                  <a:pt x="251883" y="61119"/>
                </a:cubicBezTo>
                <a:cubicBezTo>
                  <a:pt x="251883" y="51881"/>
                  <a:pt x="241975" y="44450"/>
                  <a:pt x="229658" y="44450"/>
                </a:cubicBezTo>
                <a:lnTo>
                  <a:pt x="125942" y="44450"/>
                </a:lnTo>
                <a:cubicBezTo>
                  <a:pt x="113625" y="44450"/>
                  <a:pt x="103717" y="51881"/>
                  <a:pt x="103717" y="61119"/>
                </a:cubicBezTo>
                <a:cubicBezTo>
                  <a:pt x="103717" y="70356"/>
                  <a:pt x="113625" y="77788"/>
                  <a:pt x="125942" y="77788"/>
                </a:cubicBezTo>
                <a:lnTo>
                  <a:pt x="229658" y="77788"/>
                </a:lnTo>
                <a:close/>
                <a:moveTo>
                  <a:pt x="118533" y="177800"/>
                </a:moveTo>
                <a:cubicBezTo>
                  <a:pt x="118533" y="165534"/>
                  <a:pt x="105255" y="155575"/>
                  <a:pt x="88900" y="155575"/>
                </a:cubicBezTo>
                <a:cubicBezTo>
                  <a:pt x="72545" y="155575"/>
                  <a:pt x="59267" y="165534"/>
                  <a:pt x="59267" y="177800"/>
                </a:cubicBezTo>
                <a:cubicBezTo>
                  <a:pt x="59267" y="190066"/>
                  <a:pt x="72545" y="200025"/>
                  <a:pt x="88900" y="200025"/>
                </a:cubicBezTo>
                <a:cubicBezTo>
                  <a:pt x="105255" y="200025"/>
                  <a:pt x="118533" y="190066"/>
                  <a:pt x="118533" y="177800"/>
                </a:cubicBezTo>
                <a:close/>
                <a:moveTo>
                  <a:pt x="148167" y="177800"/>
                </a:moveTo>
                <a:cubicBezTo>
                  <a:pt x="148167" y="187037"/>
                  <a:pt x="158075" y="194469"/>
                  <a:pt x="170392" y="194469"/>
                </a:cubicBezTo>
                <a:lnTo>
                  <a:pt x="274108" y="194469"/>
                </a:lnTo>
                <a:cubicBezTo>
                  <a:pt x="286425" y="194469"/>
                  <a:pt x="296333" y="187037"/>
                  <a:pt x="296333" y="177800"/>
                </a:cubicBezTo>
                <a:cubicBezTo>
                  <a:pt x="296333" y="168563"/>
                  <a:pt x="286425" y="161131"/>
                  <a:pt x="274108" y="161131"/>
                </a:cubicBezTo>
                <a:lnTo>
                  <a:pt x="170392" y="161131"/>
                </a:lnTo>
                <a:cubicBezTo>
                  <a:pt x="158075" y="161131"/>
                  <a:pt x="148167" y="168563"/>
                  <a:pt x="148167" y="177800"/>
                </a:cubicBezTo>
                <a:close/>
                <a:moveTo>
                  <a:pt x="148167" y="266700"/>
                </a:moveTo>
                <a:cubicBezTo>
                  <a:pt x="148167" y="275937"/>
                  <a:pt x="158075" y="283369"/>
                  <a:pt x="170392" y="283369"/>
                </a:cubicBezTo>
                <a:lnTo>
                  <a:pt x="274108" y="283369"/>
                </a:lnTo>
                <a:cubicBezTo>
                  <a:pt x="286425" y="283369"/>
                  <a:pt x="296333" y="275937"/>
                  <a:pt x="296333" y="266700"/>
                </a:cubicBezTo>
                <a:cubicBezTo>
                  <a:pt x="296333" y="257463"/>
                  <a:pt x="286425" y="250031"/>
                  <a:pt x="274108" y="250031"/>
                </a:cubicBezTo>
                <a:lnTo>
                  <a:pt x="170392" y="250031"/>
                </a:lnTo>
                <a:cubicBezTo>
                  <a:pt x="158075" y="250031"/>
                  <a:pt x="148167" y="257463"/>
                  <a:pt x="148167" y="266700"/>
                </a:cubicBezTo>
                <a:close/>
                <a:moveTo>
                  <a:pt x="88900" y="288925"/>
                </a:moveTo>
                <a:cubicBezTo>
                  <a:pt x="105255" y="288925"/>
                  <a:pt x="118533" y="278966"/>
                  <a:pt x="118533" y="266700"/>
                </a:cubicBezTo>
                <a:cubicBezTo>
                  <a:pt x="118533" y="254434"/>
                  <a:pt x="105255" y="244475"/>
                  <a:pt x="88900" y="244475"/>
                </a:cubicBezTo>
                <a:cubicBezTo>
                  <a:pt x="72545" y="244475"/>
                  <a:pt x="59267" y="254434"/>
                  <a:pt x="59267" y="266700"/>
                </a:cubicBezTo>
                <a:cubicBezTo>
                  <a:pt x="59267" y="278966"/>
                  <a:pt x="72545" y="288925"/>
                  <a:pt x="88900" y="28892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95000" y="4191000"/>
            <a:ext cx="469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049000" y="4381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1049000" y="4889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Analysis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049000" y="53340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Sampling strategy, scoring rubric, and the path to a validated model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859000" y="565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2" name="Text 30"/>
          <p:cNvSpPr/>
          <p:nvPr/>
        </p:nvSpPr>
        <p:spPr>
          <a:xfrm>
            <a:off x="762000" y="6858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ly6glqi7ak7i/mnt/agents/output/competency-toolkit/images/2_Modern_abstract_blue_background_wi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A2E">
                  <a:alpha val="94000"/>
                </a:srgbClr>
              </a:gs>
              <a:gs pos="60000">
                <a:srgbClr val="0F1A2E">
                  <a:alpha val="82000"/>
                </a:srgbClr>
              </a:gs>
              <a:gs pos="100000">
                <a:srgbClr val="0F1A2E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80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Competency Challenge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performance ratings alone cannot reveal what drives excellence — and how behavioral interviewing unlocks the "black box" of top performance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 THE COMPETENCY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Gap in Your Data: What Performance Scores Cannot Tell You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2000" y="1587500"/>
            <a:ext cx="14732000" cy="7620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87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OLP composite score identifies WHO is a top performer — but it cannot explain WHY they excel.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Performance data is a lagging indicator; competencies are leading predictors.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2794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You Have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3365500"/>
            <a:ext cx="406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Composite Score (0-100)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7 weighted variables across 920 employees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Avg Rating (30%)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Recency Weighted (20%)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Trend (15%)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Consistency (15%)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Experience (10%)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Promotion (5%)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Progression (5%)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588000" y="419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8673" y="276423"/>
                </a:moveTo>
                <a:cubicBezTo>
                  <a:pt x="511076" y="264021"/>
                  <a:pt x="511076" y="243880"/>
                  <a:pt x="498673" y="231477"/>
                </a:cubicBezTo>
                <a:lnTo>
                  <a:pt x="339923" y="72727"/>
                </a:lnTo>
                <a:cubicBezTo>
                  <a:pt x="327521" y="60325"/>
                  <a:pt x="307380" y="60325"/>
                  <a:pt x="294977" y="72727"/>
                </a:cubicBezTo>
                <a:cubicBezTo>
                  <a:pt x="282575" y="85130"/>
                  <a:pt x="282575" y="105271"/>
                  <a:pt x="294977" y="117673"/>
                </a:cubicBezTo>
                <a:lnTo>
                  <a:pt x="399554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399554" y="285750"/>
                </a:lnTo>
                <a:lnTo>
                  <a:pt x="294977" y="390327"/>
                </a:lnTo>
                <a:cubicBezTo>
                  <a:pt x="282575" y="402729"/>
                  <a:pt x="282575" y="422870"/>
                  <a:pt x="294977" y="435273"/>
                </a:cubicBezTo>
                <a:cubicBezTo>
                  <a:pt x="307380" y="447675"/>
                  <a:pt x="327521" y="447675"/>
                  <a:pt x="339923" y="435273"/>
                </a:cubicBezTo>
                <a:lnTo>
                  <a:pt x="498673" y="276523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66040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39700"/>
                </a:moveTo>
                <a:cubicBezTo>
                  <a:pt x="189151" y="139700"/>
                  <a:pt x="177800" y="151051"/>
                  <a:pt x="177800" y="165100"/>
                </a:cubicBezTo>
                <a:cubicBezTo>
                  <a:pt x="177800" y="175657"/>
                  <a:pt x="169307" y="184150"/>
                  <a:pt x="158750" y="184150"/>
                </a:cubicBezTo>
                <a:cubicBezTo>
                  <a:pt x="148193" y="184150"/>
                  <a:pt x="139700" y="175657"/>
                  <a:pt x="139700" y="165100"/>
                </a:cubicBezTo>
                <a:cubicBezTo>
                  <a:pt x="139700" y="130016"/>
                  <a:pt x="168116" y="101600"/>
                  <a:pt x="203200" y="101600"/>
                </a:cubicBezTo>
                <a:cubicBezTo>
                  <a:pt x="238284" y="101600"/>
                  <a:pt x="266700" y="130016"/>
                  <a:pt x="266700" y="165100"/>
                </a:cubicBezTo>
                <a:cubicBezTo>
                  <a:pt x="266700" y="202565"/>
                  <a:pt x="238125" y="218440"/>
                  <a:pt x="222250" y="224234"/>
                </a:cubicBezTo>
                <a:lnTo>
                  <a:pt x="222250" y="227251"/>
                </a:lnTo>
                <a:cubicBezTo>
                  <a:pt x="222250" y="237808"/>
                  <a:pt x="213757" y="246301"/>
                  <a:pt x="203200" y="246301"/>
                </a:cubicBezTo>
                <a:cubicBezTo>
                  <a:pt x="192643" y="246301"/>
                  <a:pt x="184150" y="237808"/>
                  <a:pt x="184150" y="227251"/>
                </a:cubicBezTo>
                <a:lnTo>
                  <a:pt x="184150" y="220821"/>
                </a:lnTo>
                <a:cubicBezTo>
                  <a:pt x="184150" y="204549"/>
                  <a:pt x="195898" y="192881"/>
                  <a:pt x="208042" y="188913"/>
                </a:cubicBezTo>
                <a:cubicBezTo>
                  <a:pt x="213122" y="187246"/>
                  <a:pt x="218519" y="184547"/>
                  <a:pt x="222488" y="180737"/>
                </a:cubicBezTo>
                <a:cubicBezTo>
                  <a:pt x="225901" y="177403"/>
                  <a:pt x="228600" y="172799"/>
                  <a:pt x="228600" y="165179"/>
                </a:cubicBezTo>
                <a:cubicBezTo>
                  <a:pt x="228600" y="151130"/>
                  <a:pt x="217249" y="139779"/>
                  <a:pt x="203200" y="139779"/>
                </a:cubicBezTo>
                <a:close/>
                <a:moveTo>
                  <a:pt x="177800" y="292100"/>
                </a:moveTo>
                <a:cubicBezTo>
                  <a:pt x="177800" y="278081"/>
                  <a:pt x="189181" y="266700"/>
                  <a:pt x="203200" y="266700"/>
                </a:cubicBezTo>
                <a:cubicBezTo>
                  <a:pt x="217219" y="266700"/>
                  <a:pt x="228600" y="278081"/>
                  <a:pt x="228600" y="292100"/>
                </a:cubicBezTo>
                <a:cubicBezTo>
                  <a:pt x="228600" y="306119"/>
                  <a:pt x="217219" y="317500"/>
                  <a:pt x="203200" y="317500"/>
                </a:cubicBezTo>
                <a:cubicBezTo>
                  <a:pt x="189181" y="317500"/>
                  <a:pt x="177800" y="306119"/>
                  <a:pt x="177800" y="292100"/>
                </a:cubicBezTo>
                <a:close/>
              </a:path>
            </a:pathLst>
          </a:custGeom>
          <a:solidFill>
            <a:srgbClr val="D4A24C"/>
          </a:solidFill>
          <a:ln/>
        </p:spPr>
      </p:sp>
      <p:sp>
        <p:nvSpPr>
          <p:cNvPr id="13" name="Text 11"/>
          <p:cNvSpPr/>
          <p:nvPr/>
        </p:nvSpPr>
        <p:spPr>
          <a:xfrm>
            <a:off x="7175500" y="2794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What's Missing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04000" y="3365500"/>
            <a:ext cx="406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"Black Box"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know top performers score high, but we don't know what behaviors produce those scores.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639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✕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behavioral data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639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✕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competency mapping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639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✕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hiring predictors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E639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✕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development targets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2DC653"/>
          </a:solidFill>
          <a:ln/>
        </p:spPr>
      </p:sp>
      <p:sp>
        <p:nvSpPr>
          <p:cNvPr id="16" name="Text 14"/>
          <p:cNvSpPr/>
          <p:nvPr/>
        </p:nvSpPr>
        <p:spPr>
          <a:xfrm>
            <a:off x="12001500" y="27940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DC6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0" y="3365500"/>
            <a:ext cx="406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Competency Study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behavioral research to identify what differentiates top performers from average ones.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C6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 interviews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C6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Self-assessment survey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C6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Manager perspectives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C6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Behavioral coding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C6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Validated model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 THE COMPETENCY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3-Source Triangulation Method: Robust by Design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2000" y="1422400"/>
            <a:ext cx="1143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competencies confirmed by 2 or more sources enter the final Success Profile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968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2000" y="1968500"/>
            <a:ext cx="4572000" cy="635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2222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Performers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6000" y="2667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15-20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6000" y="30480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Self-reported critical incidents via STAR-format interviews and self-assessment survey.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What they believe drives their success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Specific behavioral examples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42000" y="1968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42000" y="1968500"/>
            <a:ext cx="4572000" cy="6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6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72244"/>
                </a:moveTo>
                <a:cubicBezTo>
                  <a:pt x="230370" y="172244"/>
                  <a:pt x="273050" y="134899"/>
                  <a:pt x="273050" y="88900"/>
                </a:cubicBezTo>
                <a:cubicBezTo>
                  <a:pt x="273050" y="42901"/>
                  <a:pt x="230370" y="5556"/>
                  <a:pt x="177800" y="5556"/>
                </a:cubicBezTo>
                <a:cubicBezTo>
                  <a:pt x="125230" y="5556"/>
                  <a:pt x="82550" y="42901"/>
                  <a:pt x="82550" y="88900"/>
                </a:cubicBezTo>
                <a:cubicBezTo>
                  <a:pt x="82550" y="134899"/>
                  <a:pt x="125230" y="172244"/>
                  <a:pt x="177800" y="172244"/>
                </a:cubicBezTo>
                <a:close/>
                <a:moveTo>
                  <a:pt x="154226" y="211138"/>
                </a:moveTo>
                <a:cubicBezTo>
                  <a:pt x="76041" y="211138"/>
                  <a:pt x="12700" y="266561"/>
                  <a:pt x="12700" y="334972"/>
                </a:cubicBezTo>
                <a:cubicBezTo>
                  <a:pt x="12700" y="346363"/>
                  <a:pt x="23257" y="355600"/>
                  <a:pt x="36274" y="355600"/>
                </a:cubicBezTo>
                <a:lnTo>
                  <a:pt x="319326" y="355600"/>
                </a:lnTo>
                <a:cubicBezTo>
                  <a:pt x="332343" y="355600"/>
                  <a:pt x="342900" y="346363"/>
                  <a:pt x="342900" y="334972"/>
                </a:cubicBezTo>
                <a:cubicBezTo>
                  <a:pt x="342900" y="266561"/>
                  <a:pt x="279559" y="211138"/>
                  <a:pt x="201374" y="211138"/>
                </a:cubicBezTo>
                <a:lnTo>
                  <a:pt x="154226" y="211138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578600" y="2222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Performers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6000" y="2667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15-20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6000" y="30480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instruments for direct contrast — identifying behavioral gaps and developmental patterns.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What they do differently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Where gaps exist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22000" y="1968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22000" y="1968500"/>
            <a:ext cx="4572000" cy="635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76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2" name="Text 20"/>
          <p:cNvSpPr/>
          <p:nvPr/>
        </p:nvSpPr>
        <p:spPr>
          <a:xfrm>
            <a:off x="11658600" y="2222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176000" y="2667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10-15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76000" y="30480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observer perspective on what visibly differentiates their best people from the rest.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Observable behaviors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Independent validation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842000"/>
            <a:ext cx="14732000" cy="10160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9500" y="609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4478" y="53022"/>
                </a:moveTo>
                <a:cubicBezTo>
                  <a:pt x="275484" y="41672"/>
                  <a:pt x="272098" y="25797"/>
                  <a:pt x="256963" y="17542"/>
                </a:cubicBezTo>
                <a:cubicBezTo>
                  <a:pt x="241829" y="9287"/>
                  <a:pt x="220663" y="11827"/>
                  <a:pt x="209656" y="23177"/>
                </a:cubicBezTo>
                <a:lnTo>
                  <a:pt x="97473" y="138827"/>
                </a:lnTo>
                <a:lnTo>
                  <a:pt x="57785" y="109061"/>
                </a:lnTo>
                <a:cubicBezTo>
                  <a:pt x="44556" y="99139"/>
                  <a:pt x="23072" y="99139"/>
                  <a:pt x="9843" y="109061"/>
                </a:cubicBezTo>
                <a:cubicBezTo>
                  <a:pt x="-3387" y="118983"/>
                  <a:pt x="-3387" y="135096"/>
                  <a:pt x="9843" y="145018"/>
                </a:cubicBezTo>
                <a:lnTo>
                  <a:pt x="77576" y="195818"/>
                </a:lnTo>
                <a:cubicBezTo>
                  <a:pt x="84561" y="201057"/>
                  <a:pt x="94298" y="203756"/>
                  <a:pt x="104140" y="203200"/>
                </a:cubicBezTo>
                <a:cubicBezTo>
                  <a:pt x="113983" y="202644"/>
                  <a:pt x="123084" y="198834"/>
                  <a:pt x="128905" y="192802"/>
                </a:cubicBezTo>
                <a:lnTo>
                  <a:pt x="264372" y="53102"/>
                </a:lnTo>
                <a:close/>
                <a:moveTo>
                  <a:pt x="399944" y="160973"/>
                </a:moveTo>
                <a:cubicBezTo>
                  <a:pt x="410951" y="149622"/>
                  <a:pt x="407564" y="133747"/>
                  <a:pt x="392430" y="125492"/>
                </a:cubicBezTo>
                <a:cubicBezTo>
                  <a:pt x="377296" y="117237"/>
                  <a:pt x="356129" y="119777"/>
                  <a:pt x="345122" y="131128"/>
                </a:cubicBezTo>
                <a:lnTo>
                  <a:pt x="165206" y="316627"/>
                </a:lnTo>
                <a:lnTo>
                  <a:pt x="91652" y="261461"/>
                </a:lnTo>
                <a:cubicBezTo>
                  <a:pt x="78422" y="251539"/>
                  <a:pt x="56938" y="251539"/>
                  <a:pt x="43709" y="261461"/>
                </a:cubicBezTo>
                <a:cubicBezTo>
                  <a:pt x="30480" y="271383"/>
                  <a:pt x="30480" y="287496"/>
                  <a:pt x="43709" y="297418"/>
                </a:cubicBezTo>
                <a:lnTo>
                  <a:pt x="145309" y="373618"/>
                </a:lnTo>
                <a:cubicBezTo>
                  <a:pt x="152294" y="378857"/>
                  <a:pt x="162031" y="381556"/>
                  <a:pt x="171873" y="381000"/>
                </a:cubicBezTo>
                <a:cubicBezTo>
                  <a:pt x="181716" y="380444"/>
                  <a:pt x="190817" y="376634"/>
                  <a:pt x="196638" y="370602"/>
                </a:cubicBezTo>
                <a:lnTo>
                  <a:pt x="399838" y="1610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651000" y="58420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validated, behaviorally-anchored competency model for HR Manager and HRBP roles — statistically triangulated across three independent data sources.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2000" y="7112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Triangulation Logic: Only competencies confirmed by </a:t>
            </a:r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or more sources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</a:t>
            </a:r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inter-rater reliability &gt; 0.80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enter the final model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0" name="Text 28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ly6glqi7ak7i/mnt/agents/output/competency-toolkit/images/1_Global_Network_Connection_Digi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A2E">
                  <a:alpha val="94000"/>
                </a:srgbClr>
              </a:gs>
              <a:gs pos="60000">
                <a:srgbClr val="0F1A2E">
                  <a:alpha val="82000"/>
                </a:srgbClr>
              </a:gs>
              <a:gs pos="100000">
                <a:srgbClr val="0F1A2E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10 Core Competency Domains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research-grounded framework covering the behavioral dimensions that consistently predict high performance across roles at Jio Platforms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 THE 10 CORE COMPETENCY DOMAINS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Competency Framework: 10 Domains That Drive Excellence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2794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524000"/>
            <a:ext cx="63500" cy="10160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587500"/>
            <a:ext cx="57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2500" y="18796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Excellence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2500" y="21844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with speed &amp; quality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10000" y="1524000"/>
            <a:ext cx="2794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0000" y="1524000"/>
            <a:ext cx="63500" cy="10160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3" name="Text 11"/>
          <p:cNvSpPr/>
          <p:nvPr/>
        </p:nvSpPr>
        <p:spPr>
          <a:xfrm>
            <a:off x="4000500" y="1587500"/>
            <a:ext cx="57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00500" y="18796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Thinking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00500" y="21844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Connecting the dots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524000"/>
            <a:ext cx="2794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524000"/>
            <a:ext cx="63500" cy="10160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7048500" y="1587500"/>
            <a:ext cx="57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8500" y="18796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Agility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8500" y="21844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Adaptability &amp; growth mindset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06000" y="1524000"/>
            <a:ext cx="2794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6000" y="1524000"/>
            <a:ext cx="63500" cy="10160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3" name="Text 21"/>
          <p:cNvSpPr/>
          <p:nvPr/>
        </p:nvSpPr>
        <p:spPr>
          <a:xfrm>
            <a:off x="10096500" y="1587500"/>
            <a:ext cx="57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96500" y="18796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96500" y="21844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alliances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954000" y="1524000"/>
            <a:ext cx="2540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954000" y="1524000"/>
            <a:ext cx="63500" cy="1016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13144500" y="1587500"/>
            <a:ext cx="57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144500" y="1879600"/>
            <a:ext cx="2222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462000" y="2184400"/>
            <a:ext cx="196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Analytical &amp; creative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2000" y="2794000"/>
            <a:ext cx="2794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2000" y="2794000"/>
            <a:ext cx="63500" cy="1016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2857500"/>
            <a:ext cx="57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2500" y="31496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 &amp; Initiative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52500" y="34544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Self-motivation &amp; proactivity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810000" y="2794000"/>
            <a:ext cx="2794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10000" y="2794000"/>
            <a:ext cx="63500" cy="1016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4000500" y="2857500"/>
            <a:ext cx="57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000500" y="31496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Leadership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000500" y="34544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Developing others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0" y="2794000"/>
            <a:ext cx="2794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2794000"/>
            <a:ext cx="63500" cy="10160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43" name="Text 41"/>
          <p:cNvSpPr/>
          <p:nvPr/>
        </p:nvSpPr>
        <p:spPr>
          <a:xfrm>
            <a:off x="7048500" y="2857500"/>
            <a:ext cx="57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48500" y="31496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48500" y="34544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Clarity &amp; persuasion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906000" y="2794000"/>
            <a:ext cx="2794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06000" y="2794000"/>
            <a:ext cx="63500" cy="10160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48" name="Text 46"/>
          <p:cNvSpPr/>
          <p:nvPr/>
        </p:nvSpPr>
        <p:spPr>
          <a:xfrm>
            <a:off x="10096500" y="2857500"/>
            <a:ext cx="57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096500" y="31496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Resilience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096500" y="3454400"/>
            <a:ext cx="2476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Handling pressure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2954000" y="2794000"/>
            <a:ext cx="2540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954000" y="2794000"/>
            <a:ext cx="63500" cy="10160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53" name="Text 51"/>
          <p:cNvSpPr/>
          <p:nvPr/>
        </p:nvSpPr>
        <p:spPr>
          <a:xfrm>
            <a:off x="13144500" y="28575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2DC6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144500" y="3149600"/>
            <a:ext cx="2222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Orientation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3144500" y="3454400"/>
            <a:ext cx="2222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 delight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62000" y="412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Domain Includes: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635500"/>
          <a:ext cx="14732000" cy="3810000"/>
        </p:xfrm>
        <a:graphic>
          <a:graphicData uri="http://schemas.openxmlformats.org/drawingml/2006/table">
            <a:tbl>
              <a:tblPr/>
              <a:tblGrid>
                <a:gridCol w="3241040"/>
                <a:gridCol w="4124960"/>
                <a:gridCol w="3683000"/>
                <a:gridCol w="36830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Competency Domain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Definition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Behavioral Anchors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Interview Probes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Execution Excellence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Delivering results with speed, quality, and accountability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Takes ownership, meets deadlines, follows through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STAR questions on project delivery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Strategic Thinking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Connecting dots, seeing patterns, planning ahead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Anticipates trends, links to org goals, prioritizes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STAR questions on opportunity identification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 Agility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Rapid skill acquisition, adaptability, growth mindset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Seeks feedback, experiments, recovers fast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STAR questions on skill acquisition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Collaboration &amp; Influence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Building alliances, stakeholder management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Works across teams, persuades without authority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STAR questions on cross-functional work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Problem Solving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Analytical thinking, creative solutions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Breaks complexity, generates options, decides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STAR questions on complex challenges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Shape 5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59" name="Text 5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93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 THE 10 CORE COMPETENCY DOMAINS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Behaviors to Competencies: The Coding Framework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4826000"/>
        </p:xfrm>
        <a:graphic>
          <a:graphicData uri="http://schemas.openxmlformats.org/drawingml/2006/table">
            <a:tbl>
              <a:tblPr/>
              <a:tblGrid>
                <a:gridCol w="1473200"/>
                <a:gridCol w="2946400"/>
                <a:gridCol w="5156200"/>
                <a:gridCol w="515620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Level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Label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Behavioral Indicators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Scoring Guidance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</a:tr>
              <a:tr h="8493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C65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Transformational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Redefines standards, creates lasting impact across the organization, mentors others to replicate success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Multiple instances of organization-wide impact; others explicitly credit their influence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93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4D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Exceptional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Consistently exceeds expectations, role models for others, proactively raises the bar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Repeated STAR examples showing above-and-beyond outcomes; peer/manager recognition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493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52C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Proficient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Meets all expectations reliably, delivers quality work, occasional exceed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Clear evidence of consistent delivery; at least one strong STAR example per competency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93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4A24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Developing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Meets most expectations; inconsistent in complex or ambiguous situations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Some evidence of competency but gaps visible; needs support in challenging contexts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4937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6394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Foundational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Requires significant support; learning the basics of the competency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Limited or no behavioral evidence; reliance on others for execution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667500"/>
            <a:ext cx="14732000" cy="8890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667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Control: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Two analysts independently code all interview transcripts. Inter-rater reliability must exceed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0.80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(Cohen's kappa). Discrepancies are resolved through discussion until consensus is reached.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10" name="Text 7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ly6glqi7ak7i/mnt/agents/output/competency-toolkit/images/5_Abstract_blue_technology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A2E">
                  <a:alpha val="94000"/>
                </a:srgbClr>
              </a:gs>
              <a:gs pos="60000">
                <a:srgbClr val="0F1A2E">
                  <a:alpha val="82000"/>
                </a:srgbClr>
              </a:gs>
              <a:gs pos="100000">
                <a:srgbClr val="0F1A2E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Interview Guide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STAR-format protocols for three respondent groups, designed to extract behavioral evidence across all 10 competency domains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 BEHAVIORAL INTERVIEW GUIDE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 A: Top Performers — "Tell Me Your Success Story"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2000" y="1498600"/>
            <a:ext cx="14732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498600"/>
            <a:ext cx="63500" cy="4572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4986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Extract the critical behaviors, decisions, and mindsets behind sustained high performance  | 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Duration: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45-60 min  | 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 &amp; transcribe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184400"/>
            <a:ext cx="355600" cy="3556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184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2133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0000" y="24130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"Walk me through a time in the past year when you delivered exceptional results — something you're truly proud of."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9210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921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70000" y="28702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EXCELLENCE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0000" y="31496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"Describe your most complex project. How did you ensure delivery when unexpected obstacles arose?"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6576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3657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70000" y="36068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THINKING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70000" y="38862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"Tell me about a time you identified an opportunity or risk that others missed. What did you do?"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3942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43942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70000" y="43434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AGILITY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70000" y="46228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"Describe a situation where you had to master something entirely new quickly. How did you approach it?"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1308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51308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70000" y="5080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70000" y="53594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"Tell me about a time you needed support from someone who initially disagreed. How did you win them over?"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867400"/>
            <a:ext cx="355600" cy="35560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5867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70000" y="58166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70000" y="60960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"If you were hiring your replacement, what 3 specific behaviors would you look for? Why?"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6667500"/>
            <a:ext cx="1473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6000" y="692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14478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INTERVIEWER GUIDANCE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47800" y="7112000"/>
            <a:ext cx="1379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Probe for Situation, Task, Action, Result (STAR). Ask "What exactly did YOU do?" to distinguish individual contribution from team effort. Record and transcribe verbatim.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 BEHAVIORAL INTERVIEW GUIDE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 B: Average Performers — "Understanding Your Journey"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2000" y="1498600"/>
            <a:ext cx="14732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498600"/>
            <a:ext cx="635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4986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Identify developmental gaps and contrast with top-performer patterns  | 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Duration: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30-45 min  | 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recording protocol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184400"/>
            <a:ext cx="355600" cy="355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184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2133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0000" y="24130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"Think of a project you're proud of. Walk me through how you approached it from start to finish."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9210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921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70000" y="28702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0000" y="31496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"Tell me about a time when a project didn't go as planned. What happened and what did you learn?"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6576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3657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70000" y="36068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THINKING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70000" y="38862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"How do you typically approach a new or ambiguous assignment where the path forward isn't clear?"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3942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43942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70000" y="43434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70000" y="46228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"Describe a time you had to learn a new skill or tool. What was your process and how long did it take?"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1308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51308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70000" y="50800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70000" y="53594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"Tell me about a time you needed help from another team. How did you approach them and what was the result?"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867400"/>
            <a:ext cx="355600" cy="355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5867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70000" y="58166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ASPIRATION CHECK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70000" y="60960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"What would you need to change — in skills, approach, or mindset — to move from 'meets' to 'exceeds' consistently?"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6667500"/>
            <a:ext cx="1473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6000" y="692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14478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47800" y="7112000"/>
            <a:ext cx="1379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Tone is developmental, not evaluative. Goal is to understand the gap, not judge performance. Match by tenure/grade/function to ensure fair comparison with top performers.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 BEHAVIORAL INTERVIEW GUIDE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 C: Managers — "The Observer's Lens"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2000" y="1498600"/>
            <a:ext cx="14732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498600"/>
            <a:ext cx="63500" cy="4572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4986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Capture external perspective on what visibly differentiates top vs. average performers  | 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Duration: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30-45 min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1844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184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2133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0000" y="24130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"Think of your highest-performing team member. What do they do differently on a daily basis that sets them apart?"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9210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921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70000" y="28702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EXCELLENCE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0000" y="31496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"When deadlines are tight and pressure is high, what do your best people do that others don't?"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6576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3657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70000" y="3606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THINKING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70000" y="38862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"Describe a time one of your team members anticipated a problem before it became serious. What did they do?"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3942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43942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70000" y="4343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LEADERSHIP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70000" y="46228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"Who on your team makes others better just by being around them? What exactly do they do?"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1308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51308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70000" y="5080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70000" y="53594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"Tell me about a setback your team faced. Who handled it best and what specifically did they do differently?"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867400"/>
            <a:ext cx="355600" cy="355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5867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70000" y="5816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DECISION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70000" y="60960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i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"If you had to promote one person today, what specific observable behaviors would drive that decision?"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6667500"/>
            <a:ext cx="1473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6000" y="692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14478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INTERVIEWER GUIDANCE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47800" y="7112000"/>
            <a:ext cx="1379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observable behaviors, not personality traits. "They work hard" is weak; "They stay late to document handoffs so the team isn't blocked" is strong. Record specifics.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ly6glqi7ak7i/mnt/agents/output/competency-toolkit/images/2_Modern_abstract_blue_background_wi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A2E">
                  <a:alpha val="94000"/>
                </a:srgbClr>
              </a:gs>
              <a:gs pos="60000">
                <a:srgbClr val="0F1A2E">
                  <a:alpha val="82000"/>
                </a:srgbClr>
              </a:gs>
              <a:gs pos="100000">
                <a:srgbClr val="0F1A2E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Self-Administered Survey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scalable, quantifiable complement to interviews — behavioral frequency ratings plus open-ended critical incident responses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 SELF-ADMINISTERED SURVEY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Structure: Dual-Format Design for Depth + Scale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2000" y="1587500"/>
            <a:ext cx="711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587500"/>
            <a:ext cx="7112000" cy="635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803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spc="100" kern="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6000" y="2108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Frequency Scale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25146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 items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(4 per competency domain)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5-point frequency scale: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Rarely 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Sometimes 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Often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Very Often  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Almost Always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Anchored to observable behaviors, not vague self-assessments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82000" y="1587500"/>
            <a:ext cx="711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82000" y="1587500"/>
            <a:ext cx="7112000" cy="6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1803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spc="100" kern="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36000" y="2108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Incident Report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36000" y="25146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open-ended questions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qualitative depth: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"Describe your proudest professional achievement in the past 12 months. What did YOU do that made it successful?"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"Describe a challenging situation and how you handled it."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"What do you do differently from peers?"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5207000"/>
            <a:ext cx="711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2000" y="5207000"/>
            <a:ext cx="7112000" cy="635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4229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spc="100" kern="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6000" y="57277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Data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16000" y="6096000"/>
            <a:ext cx="660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Role, tenure, grade, function, years in current role, reporting manager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382000" y="5207000"/>
            <a:ext cx="7112000" cy="12700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2" name="Shape 20"/>
          <p:cNvSpPr/>
          <p:nvPr/>
        </p:nvSpPr>
        <p:spPr>
          <a:xfrm>
            <a:off x="87630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398000" y="53975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Estimated completion time: 20-25 minutes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Optimized for mobile and desktop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6794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 Scale Anchor Definitions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175500"/>
          <a:ext cx="14732000" cy="1143000"/>
        </p:xfrm>
        <a:graphic>
          <a:graphicData uri="http://schemas.openxmlformats.org/drawingml/2006/table">
            <a:tbl>
              <a:tblPr/>
              <a:tblGrid>
                <a:gridCol w="2357120"/>
                <a:gridCol w="2357120"/>
                <a:gridCol w="2504440"/>
                <a:gridCol w="2504440"/>
                <a:gridCol w="2504440"/>
                <a:gridCol w="25044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 = Rarely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 = Sometimes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 = Often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 = Very Often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 = Almost Always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N/A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Less than once per quarter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About once per quarter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About once per month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About once per week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Daily or nearly daily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Does not apply to my role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27" name="Text 24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 SELF-ADMINISTERED SURVEY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Question Bank: Sample Items by Competency Domain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9215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484505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Competency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Sample Item 1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Sample Item 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</a:tr>
              <a:tr h="64369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Execution Excellence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deliver high-quality work even under tight deadlines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take ownership of outcomes, not just assigned tasks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69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Strategic Thinking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regularly step back to see how my work connects to broader goals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anticipate future challenges and plan accordingly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369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 Agility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actively seek opportunities to learn new skills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adapt my approach quickly when circumstances change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69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Collaboration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build productive relationships across teams and functions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can influence others without relying on formal authority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369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Problem Solving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break complex problems into manageable parts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generate multiple solution options before deciding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69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Drive &amp; Initiative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volunteer for challenging assignments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persist through obstacles rather than escalating immediately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369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People Leadership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actively mentor or coach colleagues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create an environment where team members feel motivated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69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Communication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present ideas clearly and persuasively to senior leaders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adjust my communication style to my audience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369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Resilience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maintain effectiveness during periods of high pressure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recover quickly from setbacks or criticism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699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Customer Orientation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go beyond stated requirements to delight stakeholders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 seek to understand the underlying needs behind requests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ly6glqi7ak7i/mnt/agents/output/competency-toolkit/images/1_Global_Network_Connection_Digi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A2E">
                  <a:alpha val="94000"/>
                </a:srgbClr>
              </a:gs>
              <a:gs pos="60000">
                <a:srgbClr val="0F1A2E">
                  <a:alpha val="82000"/>
                </a:srgbClr>
              </a:gs>
              <a:gs pos="100000">
                <a:srgbClr val="0F1A2E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50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spc="1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Analysis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data collection to a validated competency model — the complete operational playbook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 IMPLEMENTATION &amp;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Sampling Strategy: Who to Interview and Survey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2000" y="15875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587500"/>
            <a:ext cx="4572000" cy="635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D4A24C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1841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Performer Pool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22860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15-20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6000" y="26416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Performers + Exceeds tier from composite score (top ~20%)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Prioritize Consistent Stars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Include Rising Performers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42000" y="15875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42000" y="1587500"/>
            <a:ext cx="4572000" cy="6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72244"/>
                </a:moveTo>
                <a:cubicBezTo>
                  <a:pt x="230370" y="172244"/>
                  <a:pt x="273050" y="134899"/>
                  <a:pt x="273050" y="88900"/>
                </a:cubicBezTo>
                <a:cubicBezTo>
                  <a:pt x="273050" y="42901"/>
                  <a:pt x="230370" y="5556"/>
                  <a:pt x="177800" y="5556"/>
                </a:cubicBezTo>
                <a:cubicBezTo>
                  <a:pt x="125230" y="5556"/>
                  <a:pt x="82550" y="42901"/>
                  <a:pt x="82550" y="88900"/>
                </a:cubicBezTo>
                <a:cubicBezTo>
                  <a:pt x="82550" y="134899"/>
                  <a:pt x="125230" y="172244"/>
                  <a:pt x="177800" y="172244"/>
                </a:cubicBezTo>
                <a:close/>
                <a:moveTo>
                  <a:pt x="154226" y="211138"/>
                </a:moveTo>
                <a:cubicBezTo>
                  <a:pt x="76041" y="211138"/>
                  <a:pt x="12700" y="266561"/>
                  <a:pt x="12700" y="334972"/>
                </a:cubicBezTo>
                <a:cubicBezTo>
                  <a:pt x="12700" y="346363"/>
                  <a:pt x="23257" y="355600"/>
                  <a:pt x="36274" y="355600"/>
                </a:cubicBezTo>
                <a:lnTo>
                  <a:pt x="319326" y="355600"/>
                </a:lnTo>
                <a:cubicBezTo>
                  <a:pt x="332343" y="355600"/>
                  <a:pt x="342900" y="346363"/>
                  <a:pt x="342900" y="334972"/>
                </a:cubicBezTo>
                <a:cubicBezTo>
                  <a:pt x="342900" y="266561"/>
                  <a:pt x="279559" y="211138"/>
                  <a:pt x="201374" y="211138"/>
                </a:cubicBezTo>
                <a:lnTo>
                  <a:pt x="154226" y="211138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578600" y="1841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Performer Pool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6000" y="22860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15-20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6000" y="26416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"Meets Expectations" tier, matched by tenure/grade/function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Matched controls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Same interview protocol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22000" y="15875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922000" y="1587500"/>
            <a:ext cx="4572000" cy="635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760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1" name="Text 19"/>
          <p:cNvSpPr/>
          <p:nvPr/>
        </p:nvSpPr>
        <p:spPr>
          <a:xfrm>
            <a:off x="11658600" y="1841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Manager Pool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76000" y="2286000"/>
            <a:ext cx="101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 = 10-15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76000" y="26416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managers of both groups, across all functions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Cross-functional coverage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External observer lens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2000" y="444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Stratification Criteria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889500"/>
          <a:ext cx="14732000" cy="2540000"/>
        </p:xfrm>
        <a:graphic>
          <a:graphicData uri="http://schemas.openxmlformats.org/drawingml/2006/table">
            <a:tbl>
              <a:tblPr/>
              <a:tblGrid>
                <a:gridCol w="3683000"/>
                <a:gridCol w="11049000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Criterion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Specification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Function Coverage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IT Infrastructure, JioCX, Enterprise Security, ESM, IRM — minimum 3 respondents per function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Tenure Filter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Minimum 2 years in current role to ensure behavioral observation period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Grade Distribution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Manager-level and above; include AVP/VP for leadership competencies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Participation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Voluntary with confidentiality assurance; no manager sees direct reports' responses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Total Target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E293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50+ total respondents across all three sources (40 employees + 10-15 managers)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762000" y="7683500"/>
            <a:ext cx="14732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6000" y="77470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Timeline: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Week 1-2: Sampling &amp; invites  |  Week 3-4: Interviews  |  Week 5: Survey launch  |  Week 6: Analysis &amp; model building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29" name="Text 2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 IMPLEMENTATION &amp;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Roadmap: From Raw Data to Validated Model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2000" y="1587500"/>
            <a:ext cx="4699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" y="16764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87500" y="1676400"/>
            <a:ext cx="3619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Transcription &amp; Coding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21336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analysts independently code interview transcripts using the 10-domain framework + behavioral level scale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24500" y="2222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5842000" y="1587500"/>
            <a:ext cx="4699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2500" y="16764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67500" y="1676400"/>
            <a:ext cx="3619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1336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competency mentions by source; rank-order by frequency. Identify which domains appear most often in top-performer narratives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04500" y="2222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22000" y="1587500"/>
            <a:ext cx="457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12500" y="16764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47500" y="1676400"/>
            <a:ext cx="349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Triangulation Matrix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0" y="21336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Cross-tabulate findings across Top Performer, Average Performer, and Manager sources to find convergence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3810000"/>
            <a:ext cx="4699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500" y="38989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87500" y="3898900"/>
            <a:ext cx="3619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Differentiator 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2500" y="43561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significance test (t-test or Mann-Whitney U) to confirm competencies where Top Performers score significantly higher than Average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24500" y="444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5842000" y="3810000"/>
            <a:ext cx="4699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2500" y="38989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67500" y="3898900"/>
            <a:ext cx="3619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Validation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32500" y="43561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competencies confirmed by 2+ sources with inter-rater reliability &gt; 0.80 enter the final model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604500" y="444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22000" y="3810000"/>
            <a:ext cx="4572000" cy="19685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1" name="Text 29"/>
          <p:cNvSpPr/>
          <p:nvPr/>
        </p:nvSpPr>
        <p:spPr>
          <a:xfrm>
            <a:off x="11112500" y="38989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747500" y="3898900"/>
            <a:ext cx="349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Validation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12500" y="43561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Administer final survey to 50+ employees; factor analysis confirms domain structure; Cronbach's alpha &gt; 0.70 per domain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2000" y="6096000"/>
            <a:ext cx="14732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2000" y="6096000"/>
            <a:ext cx="63500" cy="8890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36" name="Shape 34"/>
          <p:cNvSpPr/>
          <p:nvPr/>
        </p:nvSpPr>
        <p:spPr>
          <a:xfrm>
            <a:off x="1079500" y="632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2DC653"/>
          </a:solidFill>
          <a:ln/>
        </p:spPr>
      </p:sp>
      <p:sp>
        <p:nvSpPr>
          <p:cNvPr id="37" name="Text 35"/>
          <p:cNvSpPr/>
          <p:nvPr/>
        </p:nvSpPr>
        <p:spPr>
          <a:xfrm>
            <a:off x="1587500" y="6096000"/>
            <a:ext cx="1365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Output: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statistically validated, behaviorally-anchored Success Profile — ready for hiring, development, and succession planning across all functions at Jio Platforms.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9" name="Text 37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62000" y="635000"/>
            <a:ext cx="1473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22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 IMPLEMENTATION &amp;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863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Deliverables: What You Get at the End of This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62000" y="1587500"/>
            <a:ext cx="7112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587500"/>
            <a:ext cx="63500" cy="13335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6764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24000" y="1676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Validated Competency Model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24000" y="20828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5-7 core competencies with behavioral definitions and level anchors, statistically validated across three data sources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82000" y="1587500"/>
            <a:ext cx="7112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82000" y="1587500"/>
            <a:ext cx="63500" cy="133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16764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00B4D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0" y="1676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Behavioral Interview Guide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0" y="20828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Ready-to-use structured interview protocol with STAR questions for each validated competency, for hiring managers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238500"/>
            <a:ext cx="7112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2000" y="3238500"/>
            <a:ext cx="63500" cy="13335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33274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24000" y="3327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Self-Assessment Tool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24000" y="37338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Survey for employee development, succession planning, and competency gap identification across the talent pool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82000" y="3238500"/>
            <a:ext cx="7112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353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82000" y="3238500"/>
            <a:ext cx="63500" cy="13335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33274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DC6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0" y="3327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Competency Gap Analysis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0" y="37338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Current-state assessment showing where the talent pool stands relative to the validated Success Profile per function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4889500"/>
            <a:ext cx="14732000" cy="13335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49784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24000" y="4978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Playbook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24000" y="53848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actions to close competency gaps — including training, stretch assignments, mentoring, and job rotation recommendations tied to each validated competency domain. All tied to your existing composite score tiers, creating a closed-loop talent system.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2000" y="660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52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Closed-Loop Talent System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7048500"/>
            <a:ext cx="1473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6000" y="7175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OLP Data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top performers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83000" y="7366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064000" y="704850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Competency Study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what drives success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31000" y="7366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7112000" y="7175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D4A2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Profile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Hire &amp; develop to the model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779000" y="7366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10160000" y="7175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C6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Performance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top performers emerge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2827000" y="7366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13208000" y="7048500"/>
            <a:ext cx="203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0052C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Revalidate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improvement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  <p:sp>
        <p:nvSpPr>
          <p:cNvPr id="42" name="Text 4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00B4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ly6glqi7ak7i/mnt/agents/output/competency-toolkit/images/5_Abstract_blue_technology_background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A2E">
                  <a:alpha val="90000"/>
                </a:srgbClr>
              </a:gs>
              <a:gs pos="50000">
                <a:srgbClr val="0F1A2E">
                  <a:alpha val="80000"/>
                </a:srgbClr>
              </a:gs>
              <a:gs pos="100000">
                <a:srgbClr val="0F1A2E">
                  <a:alpha val="9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3000" y="1778000"/>
            <a:ext cx="1270000" cy="1270000"/>
          </a:xfrm>
          <a:prstGeom prst="roundRect">
            <a:avLst>
              <a:gd name="adj" fmla="val 16000"/>
            </a:avLst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81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7493000" y="1778000"/>
            <a:ext cx="127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048000" y="3429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Build Your Success Profile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858000" y="4254500"/>
            <a:ext cx="2540000" cy="50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4445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with 15 interviews. Validate with 50 surveys.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a competency model that predicts performance before it happens.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048000" y="5842000"/>
            <a:ext cx="10160000" cy="1016000"/>
          </a:xfrm>
          <a:prstGeom prst="rect">
            <a:avLst/>
          </a:prstGeom>
          <a:solidFill>
            <a:srgbClr val="1A2744">
              <a:alpha val="50196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56000" y="5905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556000" y="64135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715000" y="6032500"/>
            <a:ext cx="0" cy="63500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6096000" y="5905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096000" y="64135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Surveys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55000" y="6032500"/>
            <a:ext cx="0" cy="63500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8636000" y="5905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5-7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636000" y="64135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Competencies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795000" y="6032500"/>
            <a:ext cx="0" cy="63500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11176000" y="59055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D4A2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11176000" y="64135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318000" y="7366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 Platforms | HR Analytics | June 2026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gradFill rotWithShape="1" flip="none">
            <a:gsLst>
              <a:gs pos="0">
                <a:srgbClr val="0052CC"/>
              </a:gs>
              <a:gs pos="100000">
                <a:srgbClr val="00B4D8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Competency Identification Toolkit</dc:title>
  <dc:subject>Competency Identification Toolkit</dc:subject>
  <dc:creator>Kimi</dc:creator>
  <cp:lastModifiedBy>Kimi</cp:lastModifiedBy>
  <cp:revision>1</cp:revision>
  <dcterms:created xsi:type="dcterms:W3CDTF">2026-06-18T12:01:47Z</dcterms:created>
  <dcterms:modified xsi:type="dcterms:W3CDTF">2026-06-18T12:01:47Z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{"Label":"Competency Identification Toolkit","ContentProducer":"001191110108MACG2KBH8F10000","ProduceID":"19ed9a90-38e2-8240-8000-00004ecdd7e6","ReservedCode1":"","ContentPropagator":"001191110108MACG2KBH8F20000","PropagateID":"19ed9889-cec2-8921-8000-096d3cee3a2f","ReservedCode2":""}</vt:lpwstr>
  </property>
</Properties>
</file>